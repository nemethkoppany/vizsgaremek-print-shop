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/>
  <p:notesSz cx="9144000" cy="51435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hu-HU" sz="101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 dia áthelyezéséhez kattintson ide</a:t>
            </a:r>
            <a:endParaRPr lang="hu-HU" sz="101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1343880" y="2856600"/>
            <a:ext cx="10751040" cy="270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hu-HU" sz="158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jegyzetformátum szerkesztéséhez kattintson ide</a:t>
            </a:r>
            <a:endParaRPr lang="hu-HU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5832000" cy="30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7606440" y="0"/>
            <a:ext cx="5832000" cy="30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5713560"/>
            <a:ext cx="5832000" cy="30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7606440" y="5713560"/>
            <a:ext cx="5832000" cy="30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AFC72AC-B247-4AEE-868A-AE55F4BCE5C9}" type="slidenum">
              <a:rPr lang="hu-H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hu-H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1343880" y="2856600"/>
            <a:ext cx="1075104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4"/>
          </p:nvPr>
        </p:nvSpPr>
        <p:spPr>
          <a:xfrm>
            <a:off x="360" y="0"/>
            <a:ext cx="4976863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B6416F0-C83A-42D6-BA04-A2E19D65BD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128520" y="2936160"/>
            <a:ext cx="901548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Bemutatjuk, hogy miről szól a Print Shop projektünk. Egy olyan online nyomtatási szolgáltatást készítettünk, ahol a felhasználók termékeket böngészhetnek, fájlokat tölthetnek fel, egyedi rendeléseket állíthatnak össze, majd leadhatják a rendelésüket. A frontend React-ben, míg a backend TypeScript-ben készült. Emellett egy admin felület is tartozik hozzá, ahol a termékek, a rendelések, mind pedig a felhasználók kezelhetők.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49768704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644B8D3-1C5C-4E2D-BB56-3D87DCEA173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0" y="2835000"/>
            <a:ext cx="914400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projektet kettesben készítettük el, ahol én feleltem a backend fejlesztéséért: az API végpontokért, az adatbázis struktúráért, az autentikációért és a tesztelésért.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feladatok elosztása Backend-Frontend alapján történt, ahol a backendet és a frontendet külön ágon fejlesztettünk, majd pull request-eken keresztül integráltunk.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Ez a munkafolyamat lehetővé tette, hogy párhuzamosan dolgozzunk anélkül, hogy egymás kódját felülírnánk.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4976967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863F76C-12E3-40E0-AB78-1BB3CDABC71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360000" y="2513520"/>
            <a:ext cx="878400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Ezen a dián azt mutatjuk be, hogy milyen technológiákat használtunk. A frontend oldalon főként Reactet és JavaScriptet. A backenden Node.js, az Express és a TypeScript volt amiket használtunk, ami átláthatóbb és biztonságosabb fejlesztést tett lehetővé. Az adatokat MySQL adatbázisban tároljuk. A hitelesítéshez JWT-t, a jelszavak védelméhez bcryptet, a fájlkezeléshez Multert, az e-mail küldéshez pedig Nodemailert használtunk. A teszteléshez Cypress-t, a verziókezeléshez Git-et, a kommunikációhoz pedig Discord-ot használtunk a munkánk során.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49770504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23E1243-5ADC-4B4E-86E6-212B9F960B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360000" y="2520000"/>
            <a:ext cx="878400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Az alkalmazás egy klasszikus kliens-szerver architektúrán alapul: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frontend Vue.js-ben, a backend Node.js + Express + TypeScript kombinációban készült, az adatokat pedig egy MySQL adatbázisban tároljuk.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backend moduláris felépítésű – minden erőforrásnak (Users, Orders, Products, Ratings stb.) saját controller és routes fájlja van, ami átláthatóvá és könnyen bővíthetővé teszi a kódot.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frontend és a backend REST API-n keresztül kommunikál, a kérések hitelesítése JWT tokennel történik.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4976967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C2B2F80-2FC4-447C-91E1-9CEC42858A3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383760" y="2693520"/>
            <a:ext cx="861624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Bejelentkezéskor a szerver ellenőrzi az email-jelszó párost – a jelszavak bcrypt-tel vannak hashelve az adatbázisban –, majd sikeres azonosítás esetén egy JWT tokent állít elő, ami 1 óráig érvényes.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Minden védett végpontra küldött kérésnél az authMiddleware ellenőrzi ezt a tokent, és ha érvényes, kinyeri belőle a felhasználó adatait (user_id, email, role).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Az admin funkciók eléréséhez egy külön checkAdmin middleware gondoskodik arról, hogy csak admin szerepkörű felhasználók férhessenek hozzá.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4976985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22D26AD-C6DF-4F56-9FDF-2991405AC8B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408960" y="2873520"/>
            <a:ext cx="873504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Az adatbázis 7 táblából áll: a Users és Products a core entitások, az Orders és Order_items a rendelések és tételek kezelését végzik, a Files tábla a feltöltött fájlokat, a Tetel_fajlok a rendelési tételekhez rendelt fájlokat tárolja.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Az Audit_logs minden fontos rendszereseményt rögzít, a Ratings tábla pedig felhasználónként maximum egy értékelést engedélyez, amit egy UNIQUE constraint biztosít.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táblák között foreign key kapcsolatok vannak megfelelő CASCADE/RESTRICT szabályokkal, és indexek gyorsítják a leggyakoribb lekérdezéseket.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49769460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76A1FC0-B999-4FC5-8F1D-A3AEFFDA81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360000" y="2693520"/>
            <a:ext cx="882000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Itt a rendelési folyamat teljes útját követjük nyomon a termék kiválasztásától egészen a visszaigazolásig. A felhasználó először megtekinti a termékeket, majd a kiválasztott elemeket a kosárba helyezi. Akár fájlt is feltölthet, amit a rendszer eltárol és összekapcsol a rendelésével. Ezután a rendelés a backendhez kerül, majd az adatok bekerülnek az adatbázisba. A folyamat végén a rendszer e-mailes visszaigazolást is küld a vásárlónak így a felhasználó végig tájékoztatva lesz a rendelés folyamatáról.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49769928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BC30EF3-A719-4C83-8340-DFF373E6874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360000" y="2711880"/>
            <a:ext cx="882000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Az admin panel csak admin szerepkörű felhasználók számára érhető el, amit a checkAdmin middleware véd.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Az admin látja az összes rendelést, kezelheti a felhasználókat (törlés, adatok megtekintése), hozzáférhet az audit naplókhoz és az analitikai adatokhoz.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jogosultsági szintek elválasztása mind backend, mind frontend oldalon meg van valósítva – a frontend nem jelenít meg admin menüpontokat, ha a bejelentkezett felhasználó role mezője nem "admin".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49770108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1A99C8C-3C69-4489-99F3-D2D890EC87E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360000" y="2711880"/>
            <a:ext cx="882000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fájlfeltöltés Multer middleware-rel van megvalósítva, ami mind egyszeres, mind többszörös feltöltést támogat.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feltöltött fájlok metaadatai (fájlnév, típus, méret, státusz) a Files táblába kerülnek, maguk a fájlok pedig a szerver /uploads mappájában tárolódnak.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naptár funkció lehetővé teszi az egyedi termékek – például falinaptárak – konfigurálását a rendelési folyamatban, ahol a felhasználó saját képeket tölt fel az egyes hónapokhoz.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13"/>
          </p:nvPr>
        </p:nvSpPr>
        <p:spPr>
          <a:xfrm>
            <a:off x="360" y="0"/>
            <a:ext cx="4976863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F6BDFDA-25A8-470C-B2C1-90553CE3AC8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360000" y="2700000"/>
            <a:ext cx="882000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értékelési rendszer 1-5 közötti csillagos skálán működik, opcionális szöveges kommentárral, és felhasználónként csak egy értékelés adható le.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Az admin analitikai végpont összesített rendelési adatokat szolgáltat: összes rendelés száma, bevétel, átlagos rendelési érték, és szűrhető dátumtartomány szerint.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login analytics végpont az egyes felhasználók utolsó bejelentkezési idejét adja vissza, ami hasznos az aktivitás monitorozásához.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14"/>
          </p:nvPr>
        </p:nvSpPr>
        <p:spPr>
          <a:xfrm>
            <a:off x="360" y="0"/>
            <a:ext cx="4976863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CD6CB68-1A00-4F9C-9546-F6AC8D3455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360000" y="540000"/>
            <a:ext cx="5760000" cy="46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Koppány: Minden sikeres rendelés leadása után a rendszer automatikusan visszaigazoló emailt küld a felhasználónak Nodemailer segítségével. </a:t>
            </a:r>
            <a:endParaRPr lang="hu-H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Az email tartalmazza a rendelés azonosítóját és a fizetendő összeget, és a Print Shop nevű feladótól érkezik. </a:t>
            </a:r>
            <a:endParaRPr lang="hu-H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mailer konfigurációja környezeti változókból (.env) olvassa az SMTP beállításokat, így az éles és a fejlesztői környezetben különböző email-fiókot lehet használni.</a:t>
            </a:r>
            <a:endParaRPr lang="hu-H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hu-H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br>
              <a:rPr sz="1000"/>
            </a:br>
            <a:br>
              <a:rPr sz="1000"/>
            </a:br>
            <a:endParaRPr lang="hu-H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hu-H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hu-H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Patrik: Egy sikeres rendelés után a rendszer automatikusan küld egy HTML formátumú visszaigazoló e-mailt a vásárlónak. Ebben szerepel a rendelés azonosítója, a végösszeg, valamint egy rövid megerősítő üzenet.</a:t>
            </a:r>
            <a:endParaRPr lang="hu-H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15"/>
          </p:nvPr>
        </p:nvSpPr>
        <p:spPr>
          <a:xfrm>
            <a:off x="360" y="0"/>
            <a:ext cx="4976863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C2E86A1-BAC8-42FD-AC03-889C95FCC6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360000" y="2873520"/>
            <a:ext cx="864000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Ez a dia a frontend felépítését és a főbb komponenseket foglalja össze. Az App kezeli az állapotokat, illetve a kosarat és az oldalak közötti navigációt. Ezen kívül külön komponensek készültek, hogy minél átlátható és könnyebben fejleszthető legyen. Egyik legfontosabb az api.js amely összefogja az összes backenden történő kommunikációt.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16"/>
          </p:nvPr>
        </p:nvSpPr>
        <p:spPr>
          <a:xfrm>
            <a:off x="360" y="0"/>
            <a:ext cx="4976863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7E5A9E1-C2E8-4EE5-98C1-3C61A737F7C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408960" y="2856600"/>
            <a:ext cx="859104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Itt azt mutatjuk be, hogy hogyan kommunikál egymással a frontend és a backend. A frontend HTTP kéréseket küld a backend felé, például rendelés leadásakor vagy termékek lekérésekor. A backend feldolgozza a beérkező adatokat, majd JSON formájában visszaküldi az eredményt, például a rendelés azonosítóját.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17"/>
          </p:nvPr>
        </p:nvSpPr>
        <p:spPr>
          <a:xfrm>
            <a:off x="360" y="0"/>
            <a:ext cx="4976863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CBD4AD8-5706-4BB4-A823-C34D8CD2B4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408960" y="2873520"/>
            <a:ext cx="873504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tesztelés Cypress keretrendszerrel történik, külön backend API tesztekkel és frontend E2E tesztekkel.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backend tesztek ellenőrzik a bejelentkezést, a termékek lekérését, rendelés létrehozását, rating validációt és a védett végpontok hozzáférés-védelmét – összesen közel 20 teszteset van.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frontend tesztek a felhasználói felület viselkedését vizsgálják: navigáció, login form validáció, sikeres és sikertelen bejelentkezési folyamatok. 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18"/>
          </p:nvPr>
        </p:nvSpPr>
        <p:spPr>
          <a:xfrm>
            <a:off x="360" y="0"/>
            <a:ext cx="4976863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7B0C174-C493-4705-A1BD-57D1380D5D5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70" name="PlaceHolder 2"/>
          <p:cNvSpPr>
            <a:spLocks noGrp="1"/>
          </p:cNvSpPr>
          <p:nvPr>
            <p:ph type="body"/>
          </p:nvPr>
        </p:nvSpPr>
        <p:spPr>
          <a:xfrm>
            <a:off x="360000" y="2873520"/>
            <a:ext cx="864000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hu-H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Végül azt foglaljuk össze, hogy hogyan szerveztük meg a közös munkát a projekt során. A verziókezeléshez Git-et használtunk, amely lehetővé tette, hogy a fejlesztéseket biztonságosan és átláthatóan kezeljük. A kommunikáció főként Discord-on történt, ahol egyeztettünk a feladatokról, megosztottuk a kódrészleteket. Ez a munkamódszer megkönnyítette a csapaton belüli együttműködést és a feladatok felosztását.</a:t>
            </a: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sldNum" idx="19"/>
          </p:nvPr>
        </p:nvSpPr>
        <p:spPr>
          <a:xfrm>
            <a:off x="360" y="0"/>
            <a:ext cx="4976863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4043DF0-D280-4707-ACF1-0B98B8ABDD1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383760" y="456840"/>
            <a:ext cx="12670200" cy="225504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1343880" y="2856600"/>
            <a:ext cx="10751040" cy="270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buNone/>
            </a:pPr>
            <a:endParaRPr lang="hu-H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sldNum" idx="20"/>
          </p:nvPr>
        </p:nvSpPr>
        <p:spPr>
          <a:xfrm>
            <a:off x="360" y="0"/>
            <a:ext cx="49768632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4640" bIns="-4464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4FB0493-CB7A-4F0D-947F-D8D7DACDCED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&lt;szám&gt;</a:t>
            </a:fld>
            <a:endParaRPr lang="hu-HU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hu-HU" sz="101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Címszöveg formátumának szerkesztése</a:t>
            </a:r>
            <a:endParaRPr lang="hu-HU" sz="101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Vázlatszöveg formátumának szerkesztése</a:t>
            </a:r>
            <a:endParaRPr lang="hu-HU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Második vázlatszint</a:t>
            </a:r>
            <a:endParaRPr lang="hu-HU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Harmadik vázlatszint</a:t>
            </a:r>
            <a:endParaRPr lang="hu-H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Negyedik vázlatszint</a:t>
            </a:r>
            <a:endParaRPr lang="hu-H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Ötödik vázlatszint</a:t>
            </a:r>
            <a:endParaRPr lang="hu-H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Hatodik vázlatszint</a:t>
            </a:r>
            <a:endParaRPr lang="hu-H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hu-H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Hetedik vázlatszint</a:t>
            </a:r>
            <a:endParaRPr lang="hu-HU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6583680" y="-457200"/>
            <a:ext cx="3200040" cy="3200040"/>
          </a:xfrm>
          <a:prstGeom prst="ellipse">
            <a:avLst/>
          </a:prstGeom>
          <a:solidFill>
            <a:srgbClr val="06b6d4">
              <a:alpha val="12000"/>
            </a:srgbClr>
          </a:solidFill>
          <a:ln w="12700">
            <a:solidFill>
              <a:srgbClr val="06b6d4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132320" y="2560320"/>
            <a:ext cx="2011320" cy="2011320"/>
          </a:xfrm>
          <a:prstGeom prst="ellipse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11480" y="1005840"/>
            <a:ext cx="68576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200" b="1" u="none" spc="799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PRINT SHOP</a:t>
            </a:r>
            <a:endParaRPr lang="hu-HU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11480" y="1920240"/>
            <a:ext cx="6857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Online </a:t>
            </a:r>
            <a:r>
              <a:rPr lang="hu-HU" sz="2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Printing</a:t>
            </a:r>
            <a:r>
              <a:rPr lang="en-US" sz="2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hu-HU" sz="2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Service </a:t>
            </a:r>
            <a:r>
              <a:rPr lang="en-US" sz="2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Platform</a:t>
            </a:r>
            <a:endParaRPr lang="hu-HU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11480" y="2514600"/>
            <a:ext cx="2925720" cy="36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Szövegdoboz 7"/>
          <p:cNvSpPr/>
          <p:nvPr/>
        </p:nvSpPr>
        <p:spPr>
          <a:xfrm>
            <a:off x="411480" y="2642760"/>
            <a:ext cx="4297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hu-HU" sz="1200" b="0" u="none" strike="noStrike">
                <a:solidFill>
                  <a:schemeClr val="lt1"/>
                </a:solidFill>
                <a:effectLst/>
                <a:uFillTx/>
                <a:latin typeface="Georgia"/>
              </a:rPr>
              <a:t>By: Tóth Patrik, Németh Koppány Zoltán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Project Overview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2"/>
          <p:cNvSpPr/>
          <p:nvPr/>
        </p:nvSpPr>
        <p:spPr>
          <a:xfrm>
            <a:off x="274320" y="1097280"/>
            <a:ext cx="5303160" cy="374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3"/>
          <p:cNvSpPr/>
          <p:nvPr/>
        </p:nvSpPr>
        <p:spPr>
          <a:xfrm>
            <a:off x="457200" y="1188720"/>
            <a:ext cx="4937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Georgia"/>
                <a:ea typeface="Georgia"/>
              </a:rPr>
              <a:t>What is Print Shop?</a:t>
            </a:r>
            <a:endParaRPr lang="hu-H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4"/>
          <p:cNvSpPr/>
          <p:nvPr/>
        </p:nvSpPr>
        <p:spPr>
          <a:xfrm>
            <a:off x="457200" y="1691640"/>
            <a:ext cx="49374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Print Shop is a full-stack web application that simulates a real-world online printing service. Customers can browse products, upload their own files, configure custom orders (e.g. personalised calendars), and place orders</a:t>
            </a:r>
            <a:r>
              <a:rPr lang="hu-HU" sz="13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3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all through a responsive React frontend connected to a TypeScript</a:t>
            </a:r>
            <a:r>
              <a:rPr lang="hu-HU" sz="13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3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backend.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The admin panel gives staff full control over products, order statuses, user management, and business analytics.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5"/>
          <p:cNvSpPr/>
          <p:nvPr/>
        </p:nvSpPr>
        <p:spPr>
          <a:xfrm>
            <a:off x="5852160" y="1051560"/>
            <a:ext cx="3017160" cy="776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Shape 6"/>
          <p:cNvSpPr/>
          <p:nvPr/>
        </p:nvSpPr>
        <p:spPr>
          <a:xfrm>
            <a:off x="5852160" y="1051560"/>
            <a:ext cx="63720" cy="776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Text 7"/>
          <p:cNvSpPr/>
          <p:nvPr/>
        </p:nvSpPr>
        <p:spPr>
          <a:xfrm>
            <a:off x="5989320" y="10972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End-to-End Order Flow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8"/>
          <p:cNvSpPr/>
          <p:nvPr/>
        </p:nvSpPr>
        <p:spPr>
          <a:xfrm>
            <a:off x="5989320" y="139896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Browse → Cart → Payment → Confirmation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9"/>
          <p:cNvSpPr/>
          <p:nvPr/>
        </p:nvSpPr>
        <p:spPr>
          <a:xfrm>
            <a:off x="5852160" y="1965960"/>
            <a:ext cx="3017160" cy="776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Shape 10"/>
          <p:cNvSpPr/>
          <p:nvPr/>
        </p:nvSpPr>
        <p:spPr>
          <a:xfrm>
            <a:off x="5852160" y="1965960"/>
            <a:ext cx="63720" cy="776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5989320" y="20116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Secure Auth</a:t>
            </a:r>
            <a:r>
              <a:rPr lang="hu-HU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entication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2"/>
          <p:cNvSpPr/>
          <p:nvPr/>
        </p:nvSpPr>
        <p:spPr>
          <a:xfrm>
            <a:off x="5989320" y="231336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JWT with role-based access (user / admin)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3"/>
          <p:cNvSpPr/>
          <p:nvPr/>
        </p:nvSpPr>
        <p:spPr>
          <a:xfrm>
            <a:off x="5852160" y="2880360"/>
            <a:ext cx="3017160" cy="776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Shape 14"/>
          <p:cNvSpPr/>
          <p:nvPr/>
        </p:nvSpPr>
        <p:spPr>
          <a:xfrm>
            <a:off x="5852160" y="2880360"/>
            <a:ext cx="63720" cy="776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5989320" y="29260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hu-HU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File Upload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6"/>
          <p:cNvSpPr/>
          <p:nvPr/>
        </p:nvSpPr>
        <p:spPr>
          <a:xfrm>
            <a:off x="5989320" y="322776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Multer middleware, stored server-side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7"/>
          <p:cNvSpPr/>
          <p:nvPr/>
        </p:nvSpPr>
        <p:spPr>
          <a:xfrm>
            <a:off x="5852160" y="3794760"/>
            <a:ext cx="3017160" cy="776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18"/>
          <p:cNvSpPr/>
          <p:nvPr/>
        </p:nvSpPr>
        <p:spPr>
          <a:xfrm>
            <a:off x="5852160" y="3794760"/>
            <a:ext cx="63720" cy="776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9"/>
          <p:cNvSpPr/>
          <p:nvPr/>
        </p:nvSpPr>
        <p:spPr>
          <a:xfrm>
            <a:off x="5989320" y="38404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Analytics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0"/>
          <p:cNvSpPr/>
          <p:nvPr/>
        </p:nvSpPr>
        <p:spPr>
          <a:xfrm>
            <a:off x="5989320" y="414216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Order stats &amp; login tracking for admins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Team &amp; Work Distribution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2"/>
          <p:cNvSpPr/>
          <p:nvPr/>
        </p:nvSpPr>
        <p:spPr>
          <a:xfrm>
            <a:off x="228600" y="1005840"/>
            <a:ext cx="274284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Shape 3"/>
          <p:cNvSpPr/>
          <p:nvPr/>
        </p:nvSpPr>
        <p:spPr>
          <a:xfrm>
            <a:off x="228600" y="1005840"/>
            <a:ext cx="2742840" cy="438480"/>
          </a:xfrm>
          <a:prstGeom prst="rect">
            <a:avLst/>
          </a:prstGeom>
          <a:solidFill>
            <a:schemeClr val="accent6"/>
          </a:solidFill>
          <a:ln w="127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 4"/>
          <p:cNvSpPr/>
          <p:nvPr/>
        </p:nvSpPr>
        <p:spPr>
          <a:xfrm>
            <a:off x="301680" y="1042560"/>
            <a:ext cx="2605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hu-HU" sz="12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Backend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5"/>
          <p:cNvSpPr/>
          <p:nvPr/>
        </p:nvSpPr>
        <p:spPr>
          <a:xfrm>
            <a:off x="320040" y="15544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Backend: Express app setup, routing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6"/>
          <p:cNvSpPr/>
          <p:nvPr/>
        </p:nvSpPr>
        <p:spPr>
          <a:xfrm>
            <a:off x="320040" y="191772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JWT authentication middleware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7"/>
          <p:cNvSpPr/>
          <p:nvPr/>
        </p:nvSpPr>
        <p:spPr>
          <a:xfrm>
            <a:off x="301680" y="22780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User registration &amp; login endpoints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8"/>
          <p:cNvSpPr/>
          <p:nvPr/>
        </p:nvSpPr>
        <p:spPr>
          <a:xfrm>
            <a:off x="301680" y="268560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bcrypt password hashing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9"/>
          <p:cNvSpPr/>
          <p:nvPr/>
        </p:nvSpPr>
        <p:spPr>
          <a:xfrm>
            <a:off x="301680" y="341640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MySQL database schema design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0"/>
          <p:cNvSpPr/>
          <p:nvPr/>
        </p:nvSpPr>
        <p:spPr>
          <a:xfrm>
            <a:off x="301680" y="385992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Cypress E2E test suite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1"/>
          <p:cNvSpPr/>
          <p:nvPr/>
        </p:nvSpPr>
        <p:spPr>
          <a:xfrm>
            <a:off x="3173040" y="1005840"/>
            <a:ext cx="274284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Shape 12"/>
          <p:cNvSpPr/>
          <p:nvPr/>
        </p:nvSpPr>
        <p:spPr>
          <a:xfrm>
            <a:off x="3173040" y="1005840"/>
            <a:ext cx="2742840" cy="43848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rgbClr val="70ad47">
                <a:lumMod val="60000"/>
                <a:lumOff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13"/>
          <p:cNvSpPr/>
          <p:nvPr/>
        </p:nvSpPr>
        <p:spPr>
          <a:xfrm>
            <a:off x="3246120" y="1120320"/>
            <a:ext cx="2605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hu-HU" sz="12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Frontend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4"/>
          <p:cNvSpPr/>
          <p:nvPr/>
        </p:nvSpPr>
        <p:spPr>
          <a:xfrm>
            <a:off x="3264480" y="15544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React frontend architecture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5"/>
          <p:cNvSpPr/>
          <p:nvPr/>
        </p:nvSpPr>
        <p:spPr>
          <a:xfrm>
            <a:off x="3246120" y="190332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Admin panel (all tabs)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6"/>
          <p:cNvSpPr/>
          <p:nvPr/>
        </p:nvSpPr>
        <p:spPr>
          <a:xfrm>
            <a:off x="3227760" y="231444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Cart &amp; calendar preview feature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7"/>
          <p:cNvSpPr/>
          <p:nvPr/>
        </p:nvSpPr>
        <p:spPr>
          <a:xfrm>
            <a:off x="301680" y="423036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File upload (multer integration)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8"/>
          <p:cNvSpPr/>
          <p:nvPr/>
        </p:nvSpPr>
        <p:spPr>
          <a:xfrm>
            <a:off x="301680" y="304632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Email notification (Nodemailer)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9"/>
          <p:cNvSpPr/>
          <p:nvPr/>
        </p:nvSpPr>
        <p:spPr>
          <a:xfrm>
            <a:off x="3264480" y="407844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CSS styling &amp; responsive layout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0"/>
          <p:cNvSpPr/>
          <p:nvPr/>
        </p:nvSpPr>
        <p:spPr>
          <a:xfrm>
            <a:off x="6117480" y="1005840"/>
            <a:ext cx="274284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Shape 21"/>
          <p:cNvSpPr/>
          <p:nvPr/>
        </p:nvSpPr>
        <p:spPr>
          <a:xfrm>
            <a:off x="6117480" y="1005840"/>
            <a:ext cx="2742840" cy="438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Text 22"/>
          <p:cNvSpPr/>
          <p:nvPr/>
        </p:nvSpPr>
        <p:spPr>
          <a:xfrm>
            <a:off x="6190560" y="1042560"/>
            <a:ext cx="2605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hu-HU" sz="12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Common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3"/>
          <p:cNvSpPr/>
          <p:nvPr/>
        </p:nvSpPr>
        <p:spPr>
          <a:xfrm>
            <a:off x="6208920" y="155448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</a:t>
            </a:r>
            <a:r>
              <a:rPr lang="hu-HU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Documentation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4"/>
          <p:cNvSpPr/>
          <p:nvPr/>
        </p:nvSpPr>
        <p:spPr>
          <a:xfrm>
            <a:off x="6208920" y="192924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</a:t>
            </a:r>
            <a:r>
              <a:rPr lang="hu-HU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Testing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zövegdoboz 30"/>
          <p:cNvSpPr/>
          <p:nvPr/>
        </p:nvSpPr>
        <p:spPr>
          <a:xfrm>
            <a:off x="3173040" y="2859480"/>
            <a:ext cx="2462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</a:t>
            </a:r>
            <a:r>
              <a:rPr lang="hu-HU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Visual design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zövegdoboz 31"/>
          <p:cNvSpPr/>
          <p:nvPr/>
        </p:nvSpPr>
        <p:spPr>
          <a:xfrm>
            <a:off x="3173040" y="3249720"/>
            <a:ext cx="274284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</a:t>
            </a:r>
            <a:r>
              <a:rPr lang="hu-HU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Connecting the backend with the frontend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zövegdoboz 32"/>
          <p:cNvSpPr/>
          <p:nvPr/>
        </p:nvSpPr>
        <p:spPr>
          <a:xfrm>
            <a:off x="3124080" y="3733200"/>
            <a:ext cx="255996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</a:t>
            </a:r>
            <a:r>
              <a:rPr lang="hu-HU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React frontend components and design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1584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Technology Stack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228600" y="1005840"/>
            <a:ext cx="201132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228600" y="1005840"/>
            <a:ext cx="2011320" cy="4111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4"/>
          <p:cNvSpPr/>
          <p:nvPr/>
        </p:nvSpPr>
        <p:spPr>
          <a:xfrm>
            <a:off x="320040" y="10332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Frontend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5"/>
          <p:cNvSpPr/>
          <p:nvPr/>
        </p:nvSpPr>
        <p:spPr>
          <a:xfrm>
            <a:off x="338400" y="150876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React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338400" y="201168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Vite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7"/>
          <p:cNvSpPr/>
          <p:nvPr/>
        </p:nvSpPr>
        <p:spPr>
          <a:xfrm>
            <a:off x="338400" y="251460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JavaScript (JSX)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8"/>
          <p:cNvSpPr/>
          <p:nvPr/>
        </p:nvSpPr>
        <p:spPr>
          <a:xfrm>
            <a:off x="338400" y="301752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Fetch API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9"/>
          <p:cNvSpPr/>
          <p:nvPr/>
        </p:nvSpPr>
        <p:spPr>
          <a:xfrm>
            <a:off x="338400" y="352044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localStorage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0"/>
          <p:cNvSpPr/>
          <p:nvPr/>
        </p:nvSpPr>
        <p:spPr>
          <a:xfrm>
            <a:off x="2441520" y="1005840"/>
            <a:ext cx="201132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Shape 11"/>
          <p:cNvSpPr/>
          <p:nvPr/>
        </p:nvSpPr>
        <p:spPr>
          <a:xfrm>
            <a:off x="2441520" y="1005840"/>
            <a:ext cx="2011320" cy="411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2532960" y="10332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Backend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3"/>
          <p:cNvSpPr/>
          <p:nvPr/>
        </p:nvSpPr>
        <p:spPr>
          <a:xfrm>
            <a:off x="2551320" y="150876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Node.js + Express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4"/>
          <p:cNvSpPr/>
          <p:nvPr/>
        </p:nvSpPr>
        <p:spPr>
          <a:xfrm>
            <a:off x="2551320" y="201168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TypeScript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5"/>
          <p:cNvSpPr/>
          <p:nvPr/>
        </p:nvSpPr>
        <p:spPr>
          <a:xfrm>
            <a:off x="2551320" y="251460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JWT (jsonwebtoken)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6"/>
          <p:cNvSpPr/>
          <p:nvPr/>
        </p:nvSpPr>
        <p:spPr>
          <a:xfrm>
            <a:off x="2551320" y="301752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bcryptjs (hashing)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7"/>
          <p:cNvSpPr/>
          <p:nvPr/>
        </p:nvSpPr>
        <p:spPr>
          <a:xfrm>
            <a:off x="2551320" y="352044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Multer (uploads)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8"/>
          <p:cNvSpPr/>
          <p:nvPr/>
        </p:nvSpPr>
        <p:spPr>
          <a:xfrm>
            <a:off x="2551320" y="402336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Nodemailer (email)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9"/>
          <p:cNvSpPr/>
          <p:nvPr/>
        </p:nvSpPr>
        <p:spPr>
          <a:xfrm>
            <a:off x="4654440" y="1005840"/>
            <a:ext cx="201132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Shape 20"/>
          <p:cNvSpPr/>
          <p:nvPr/>
        </p:nvSpPr>
        <p:spPr>
          <a:xfrm>
            <a:off x="4654440" y="1005840"/>
            <a:ext cx="2011320" cy="4111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rgbClr val="00b0f0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1"/>
          <p:cNvSpPr/>
          <p:nvPr/>
        </p:nvSpPr>
        <p:spPr>
          <a:xfrm>
            <a:off x="4745880" y="10332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Database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2"/>
          <p:cNvSpPr/>
          <p:nvPr/>
        </p:nvSpPr>
        <p:spPr>
          <a:xfrm>
            <a:off x="4763880" y="150876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MySQL 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3"/>
          <p:cNvSpPr/>
          <p:nvPr/>
        </p:nvSpPr>
        <p:spPr>
          <a:xfrm>
            <a:off x="4763880" y="201168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mysql2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4"/>
          <p:cNvSpPr/>
          <p:nvPr/>
        </p:nvSpPr>
        <p:spPr>
          <a:xfrm>
            <a:off x="4763880" y="251460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Relational schem</a:t>
            </a:r>
            <a:r>
              <a:rPr lang="hu-HU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5"/>
          <p:cNvSpPr/>
          <p:nvPr/>
        </p:nvSpPr>
        <p:spPr>
          <a:xfrm>
            <a:off x="4763880" y="301752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 26"/>
          <p:cNvSpPr/>
          <p:nvPr/>
        </p:nvSpPr>
        <p:spPr>
          <a:xfrm>
            <a:off x="4745880" y="301752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Stored timestamps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7"/>
          <p:cNvSpPr/>
          <p:nvPr/>
        </p:nvSpPr>
        <p:spPr>
          <a:xfrm>
            <a:off x="6867000" y="1005840"/>
            <a:ext cx="201132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Shape 28"/>
          <p:cNvSpPr/>
          <p:nvPr/>
        </p:nvSpPr>
        <p:spPr>
          <a:xfrm>
            <a:off x="6867000" y="1005840"/>
            <a:ext cx="2011320" cy="411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 29"/>
          <p:cNvSpPr/>
          <p:nvPr/>
        </p:nvSpPr>
        <p:spPr>
          <a:xfrm>
            <a:off x="6958440" y="103320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Testing</a:t>
            </a:r>
            <a:r>
              <a:rPr lang="hu-HU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 and Communication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30"/>
          <p:cNvSpPr/>
          <p:nvPr/>
        </p:nvSpPr>
        <p:spPr>
          <a:xfrm>
            <a:off x="6976800" y="150876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Cypress E2E tests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1"/>
          <p:cNvSpPr/>
          <p:nvPr/>
        </p:nvSpPr>
        <p:spPr>
          <a:xfrm>
            <a:off x="6976800" y="201168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Git (version control)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2"/>
          <p:cNvSpPr/>
          <p:nvPr/>
        </p:nvSpPr>
        <p:spPr>
          <a:xfrm>
            <a:off x="6976800" y="251460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Discord (</a:t>
            </a:r>
            <a:r>
              <a:rPr lang="hu-HU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communication</a:t>
            </a: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3"/>
          <p:cNvSpPr/>
          <p:nvPr/>
        </p:nvSpPr>
        <p:spPr>
          <a:xfrm>
            <a:off x="6976800" y="3017520"/>
            <a:ext cx="1828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System Architecture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298440" y="1828800"/>
            <a:ext cx="1691280" cy="1279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 3"/>
          <p:cNvSpPr/>
          <p:nvPr/>
        </p:nvSpPr>
        <p:spPr>
          <a:xfrm>
            <a:off x="343080" y="1938600"/>
            <a:ext cx="1599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Browser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4"/>
          <p:cNvSpPr/>
          <p:nvPr/>
        </p:nvSpPr>
        <p:spPr>
          <a:xfrm>
            <a:off x="320040" y="2816280"/>
            <a:ext cx="1599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User / Admin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5"/>
          <p:cNvSpPr/>
          <p:nvPr/>
        </p:nvSpPr>
        <p:spPr>
          <a:xfrm>
            <a:off x="2400480" y="1828800"/>
            <a:ext cx="1691280" cy="1279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 6"/>
          <p:cNvSpPr/>
          <p:nvPr/>
        </p:nvSpPr>
        <p:spPr>
          <a:xfrm>
            <a:off x="2446200" y="1938600"/>
            <a:ext cx="1599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React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Frontend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7"/>
          <p:cNvSpPr/>
          <p:nvPr/>
        </p:nvSpPr>
        <p:spPr>
          <a:xfrm>
            <a:off x="2446200" y="2633400"/>
            <a:ext cx="1599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Vite · JSX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8"/>
          <p:cNvSpPr/>
          <p:nvPr/>
        </p:nvSpPr>
        <p:spPr>
          <a:xfrm>
            <a:off x="4720680" y="1828800"/>
            <a:ext cx="1691280" cy="1279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 9"/>
          <p:cNvSpPr/>
          <p:nvPr/>
        </p:nvSpPr>
        <p:spPr>
          <a:xfrm>
            <a:off x="4766400" y="1938600"/>
            <a:ext cx="1599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hu-HU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TypeScript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Backend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0"/>
          <p:cNvSpPr/>
          <p:nvPr/>
        </p:nvSpPr>
        <p:spPr>
          <a:xfrm>
            <a:off x="4766400" y="2633400"/>
            <a:ext cx="1599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TypeScript · REST API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1"/>
          <p:cNvSpPr/>
          <p:nvPr/>
        </p:nvSpPr>
        <p:spPr>
          <a:xfrm>
            <a:off x="7040880" y="1828800"/>
            <a:ext cx="1691280" cy="1279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2"/>
          <p:cNvSpPr/>
          <p:nvPr/>
        </p:nvSpPr>
        <p:spPr>
          <a:xfrm>
            <a:off x="7086600" y="1938600"/>
            <a:ext cx="1599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MySQL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Database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3"/>
          <p:cNvSpPr/>
          <p:nvPr/>
        </p:nvSpPr>
        <p:spPr>
          <a:xfrm>
            <a:off x="7086600" y="2633400"/>
            <a:ext cx="15998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mysql2/promise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7"/>
          <p:cNvSpPr/>
          <p:nvPr/>
        </p:nvSpPr>
        <p:spPr>
          <a:xfrm>
            <a:off x="2011680" y="128016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fetch() + Bearer token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8"/>
          <p:cNvSpPr/>
          <p:nvPr/>
        </p:nvSpPr>
        <p:spPr>
          <a:xfrm>
            <a:off x="4434840" y="128016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verifyToken middleware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9"/>
          <p:cNvSpPr/>
          <p:nvPr/>
        </p:nvSpPr>
        <p:spPr>
          <a:xfrm>
            <a:off x="6858000" y="128016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 20"/>
          <p:cNvSpPr/>
          <p:nvPr/>
        </p:nvSpPr>
        <p:spPr>
          <a:xfrm>
            <a:off x="274320" y="342900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Backend Modules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1"/>
          <p:cNvSpPr/>
          <p:nvPr/>
        </p:nvSpPr>
        <p:spPr>
          <a:xfrm>
            <a:off x="274320" y="376740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▸ Users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2"/>
          <p:cNvSpPr/>
          <p:nvPr/>
        </p:nvSpPr>
        <p:spPr>
          <a:xfrm>
            <a:off x="274320" y="406908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▸ Products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3"/>
          <p:cNvSpPr/>
          <p:nvPr/>
        </p:nvSpPr>
        <p:spPr>
          <a:xfrm>
            <a:off x="274320" y="437076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▸ Orders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4"/>
          <p:cNvSpPr/>
          <p:nvPr/>
        </p:nvSpPr>
        <p:spPr>
          <a:xfrm>
            <a:off x="274320" y="467244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▸ Ratings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5"/>
          <p:cNvSpPr/>
          <p:nvPr/>
        </p:nvSpPr>
        <p:spPr>
          <a:xfrm>
            <a:off x="2194560" y="376740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▸ Analytics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6"/>
          <p:cNvSpPr/>
          <p:nvPr/>
        </p:nvSpPr>
        <p:spPr>
          <a:xfrm>
            <a:off x="2194560" y="406908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▸ SystemLog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7"/>
          <p:cNvSpPr/>
          <p:nvPr/>
        </p:nvSpPr>
        <p:spPr>
          <a:xfrm>
            <a:off x="2194560" y="437076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▸ UploadFile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8"/>
          <p:cNvSpPr/>
          <p:nvPr/>
        </p:nvSpPr>
        <p:spPr>
          <a:xfrm>
            <a:off x="4206240" y="3429000"/>
            <a:ext cx="46630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Each module has its own Controller + Routes file.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All routes are registered in /src/routes/index.ts.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Authentication &amp; JWT Tokenisation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3"/>
          <p:cNvSpPr/>
          <p:nvPr/>
        </p:nvSpPr>
        <p:spPr>
          <a:xfrm>
            <a:off x="731520" y="1078920"/>
            <a:ext cx="731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hu-H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4"/>
          <p:cNvSpPr/>
          <p:nvPr/>
        </p:nvSpPr>
        <p:spPr>
          <a:xfrm>
            <a:off x="312480" y="1138320"/>
            <a:ext cx="1554120" cy="12340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 5"/>
          <p:cNvSpPr/>
          <p:nvPr/>
        </p:nvSpPr>
        <p:spPr>
          <a:xfrm>
            <a:off x="325080" y="11840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Register / Login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6"/>
          <p:cNvSpPr/>
          <p:nvPr/>
        </p:nvSpPr>
        <p:spPr>
          <a:xfrm>
            <a:off x="325080" y="1531800"/>
            <a:ext cx="1462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User sends email + password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POST /api/auth/login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2468880" y="1078920"/>
            <a:ext cx="731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hu-H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0"/>
          <p:cNvSpPr/>
          <p:nvPr/>
        </p:nvSpPr>
        <p:spPr>
          <a:xfrm>
            <a:off x="2016720" y="1138320"/>
            <a:ext cx="1554120" cy="12340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 11"/>
          <p:cNvSpPr/>
          <p:nvPr/>
        </p:nvSpPr>
        <p:spPr>
          <a:xfrm>
            <a:off x="2062440" y="11840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 Verify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2"/>
          <p:cNvSpPr/>
          <p:nvPr/>
        </p:nvSpPr>
        <p:spPr>
          <a:xfrm>
            <a:off x="2062440" y="1531800"/>
            <a:ext cx="1462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Password compared against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hashed value in MySQL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5"/>
          <p:cNvSpPr/>
          <p:nvPr/>
        </p:nvSpPr>
        <p:spPr>
          <a:xfrm>
            <a:off x="4206240" y="1078920"/>
            <a:ext cx="731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hu-H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3754080" y="1138320"/>
            <a:ext cx="1554120" cy="12340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 17"/>
          <p:cNvSpPr/>
          <p:nvPr/>
        </p:nvSpPr>
        <p:spPr>
          <a:xfrm>
            <a:off x="3799800" y="11840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JWT Signed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8"/>
          <p:cNvSpPr/>
          <p:nvPr/>
        </p:nvSpPr>
        <p:spPr>
          <a:xfrm>
            <a:off x="3799800" y="1531800"/>
            <a:ext cx="1462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Token contains user_id,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email, role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2"/>
          <p:cNvSpPr/>
          <p:nvPr/>
        </p:nvSpPr>
        <p:spPr>
          <a:xfrm>
            <a:off x="5491440" y="1138320"/>
            <a:ext cx="1554120" cy="12340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 23"/>
          <p:cNvSpPr/>
          <p:nvPr/>
        </p:nvSpPr>
        <p:spPr>
          <a:xfrm>
            <a:off x="5537160" y="11840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Token Stored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4"/>
          <p:cNvSpPr/>
          <p:nvPr/>
        </p:nvSpPr>
        <p:spPr>
          <a:xfrm>
            <a:off x="5537160" y="1531800"/>
            <a:ext cx="1462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Frontend saves token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in localStorage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7"/>
          <p:cNvSpPr/>
          <p:nvPr/>
        </p:nvSpPr>
        <p:spPr>
          <a:xfrm>
            <a:off x="7680960" y="1078920"/>
            <a:ext cx="731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hu-H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8"/>
          <p:cNvSpPr/>
          <p:nvPr/>
        </p:nvSpPr>
        <p:spPr>
          <a:xfrm>
            <a:off x="7228800" y="1138320"/>
            <a:ext cx="1554120" cy="12340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 29"/>
          <p:cNvSpPr/>
          <p:nvPr/>
        </p:nvSpPr>
        <p:spPr>
          <a:xfrm>
            <a:off x="7274520" y="1184040"/>
            <a:ext cx="1462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Authenticated Requests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0"/>
          <p:cNvSpPr/>
          <p:nvPr/>
        </p:nvSpPr>
        <p:spPr>
          <a:xfrm>
            <a:off x="7274520" y="1531800"/>
            <a:ext cx="14626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Bearer token sent in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Authorization header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1"/>
          <p:cNvSpPr/>
          <p:nvPr/>
        </p:nvSpPr>
        <p:spPr>
          <a:xfrm>
            <a:off x="274320" y="3291840"/>
            <a:ext cx="8595000" cy="159984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32"/>
          <p:cNvSpPr/>
          <p:nvPr/>
        </p:nvSpPr>
        <p:spPr>
          <a:xfrm>
            <a:off x="411480" y="33375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// authMiddleware.ts – verifyToken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3"/>
          <p:cNvSpPr/>
          <p:nvPr/>
        </p:nvSpPr>
        <p:spPr>
          <a:xfrm>
            <a:off x="411480" y="3657600"/>
            <a:ext cx="83206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const token = req.body?.token || req.headers?.["x-access-token"] || req.headers.authorization?.split(" ")[1];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const decoded = jwt.verify(token, config.jwtSecret) as JwtPayload;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req.user = decoded;  // { user_id, email, role }  →  used by checkAdmin()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hu-HU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Database Schema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Kép 9"/>
          <p:cNvPicPr/>
          <p:nvPr/>
        </p:nvPicPr>
        <p:blipFill>
          <a:blip r:embed="rId1"/>
          <a:stretch/>
        </p:blipFill>
        <p:spPr>
          <a:xfrm>
            <a:off x="0" y="659520"/>
            <a:ext cx="9143640" cy="4483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Order Flow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"/>
          <p:cNvSpPr/>
          <p:nvPr/>
        </p:nvSpPr>
        <p:spPr>
          <a:xfrm>
            <a:off x="91440" y="960120"/>
            <a:ext cx="2102760" cy="3837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137160" y="987480"/>
            <a:ext cx="2011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Customer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1097280" y="1371600"/>
            <a:ext cx="18000" cy="3474360"/>
          </a:xfrm>
          <a:prstGeom prst="rect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5"/>
          <p:cNvSpPr/>
          <p:nvPr/>
        </p:nvSpPr>
        <p:spPr>
          <a:xfrm>
            <a:off x="2331720" y="960120"/>
            <a:ext cx="2102760" cy="383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2377440" y="987480"/>
            <a:ext cx="2011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7"/>
          <p:cNvSpPr/>
          <p:nvPr/>
        </p:nvSpPr>
        <p:spPr>
          <a:xfrm>
            <a:off x="3337560" y="1371600"/>
            <a:ext cx="18000" cy="3474360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Shape 8"/>
          <p:cNvSpPr/>
          <p:nvPr/>
        </p:nvSpPr>
        <p:spPr>
          <a:xfrm>
            <a:off x="4572000" y="960120"/>
            <a:ext cx="2102760" cy="3837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 9"/>
          <p:cNvSpPr/>
          <p:nvPr/>
        </p:nvSpPr>
        <p:spPr>
          <a:xfrm>
            <a:off x="4617720" y="987480"/>
            <a:ext cx="2011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Backend API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0"/>
          <p:cNvSpPr/>
          <p:nvPr/>
        </p:nvSpPr>
        <p:spPr>
          <a:xfrm>
            <a:off x="5577840" y="1371600"/>
            <a:ext cx="18000" cy="3474360"/>
          </a:xfrm>
          <a:prstGeom prst="rect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Shape 11"/>
          <p:cNvSpPr/>
          <p:nvPr/>
        </p:nvSpPr>
        <p:spPr>
          <a:xfrm>
            <a:off x="6812280" y="960120"/>
            <a:ext cx="2102760" cy="383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 12"/>
          <p:cNvSpPr/>
          <p:nvPr/>
        </p:nvSpPr>
        <p:spPr>
          <a:xfrm>
            <a:off x="6858000" y="987480"/>
            <a:ext cx="2011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Calibri"/>
                <a:ea typeface="Calibri"/>
              </a:rPr>
              <a:t>Database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3"/>
          <p:cNvSpPr/>
          <p:nvPr/>
        </p:nvSpPr>
        <p:spPr>
          <a:xfrm>
            <a:off x="7818120" y="1371600"/>
            <a:ext cx="18000" cy="3474360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>
                <a:alpha val="3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Shape 14"/>
          <p:cNvSpPr/>
          <p:nvPr/>
        </p:nvSpPr>
        <p:spPr>
          <a:xfrm>
            <a:off x="137160" y="148140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 15"/>
          <p:cNvSpPr/>
          <p:nvPr/>
        </p:nvSpPr>
        <p:spPr>
          <a:xfrm>
            <a:off x="182880" y="152712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Browse products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6"/>
          <p:cNvSpPr/>
          <p:nvPr/>
        </p:nvSpPr>
        <p:spPr>
          <a:xfrm>
            <a:off x="2377440" y="148140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 17"/>
          <p:cNvSpPr/>
          <p:nvPr/>
        </p:nvSpPr>
        <p:spPr>
          <a:xfrm>
            <a:off x="2423160" y="152712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GET /api/products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8"/>
          <p:cNvSpPr/>
          <p:nvPr/>
        </p:nvSpPr>
        <p:spPr>
          <a:xfrm>
            <a:off x="4617720" y="148140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19"/>
          <p:cNvSpPr/>
          <p:nvPr/>
        </p:nvSpPr>
        <p:spPr>
          <a:xfrm>
            <a:off x="4663440" y="152712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Query MySQL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0"/>
          <p:cNvSpPr/>
          <p:nvPr/>
        </p:nvSpPr>
        <p:spPr>
          <a:xfrm>
            <a:off x="6858000" y="148140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 21"/>
          <p:cNvSpPr/>
          <p:nvPr/>
        </p:nvSpPr>
        <p:spPr>
          <a:xfrm>
            <a:off x="6903720" y="152712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Return JSON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2"/>
          <p:cNvSpPr/>
          <p:nvPr/>
        </p:nvSpPr>
        <p:spPr>
          <a:xfrm>
            <a:off x="137160" y="201168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 23"/>
          <p:cNvSpPr/>
          <p:nvPr/>
        </p:nvSpPr>
        <p:spPr>
          <a:xfrm>
            <a:off x="182880" y="205740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Add to Cart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24"/>
          <p:cNvSpPr/>
          <p:nvPr/>
        </p:nvSpPr>
        <p:spPr>
          <a:xfrm>
            <a:off x="2377440" y="201168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25"/>
          <p:cNvSpPr/>
          <p:nvPr/>
        </p:nvSpPr>
        <p:spPr>
          <a:xfrm>
            <a:off x="2423160" y="205740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Save in localStorage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6"/>
          <p:cNvSpPr/>
          <p:nvPr/>
        </p:nvSpPr>
        <p:spPr>
          <a:xfrm>
            <a:off x="137160" y="254196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27"/>
          <p:cNvSpPr/>
          <p:nvPr/>
        </p:nvSpPr>
        <p:spPr>
          <a:xfrm>
            <a:off x="182880" y="25876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Upload file (optional)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28"/>
          <p:cNvSpPr/>
          <p:nvPr/>
        </p:nvSpPr>
        <p:spPr>
          <a:xfrm>
            <a:off x="2377440" y="254196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 29"/>
          <p:cNvSpPr/>
          <p:nvPr/>
        </p:nvSpPr>
        <p:spPr>
          <a:xfrm>
            <a:off x="2423160" y="25876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POST /api/file/upload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0"/>
          <p:cNvSpPr/>
          <p:nvPr/>
        </p:nvSpPr>
        <p:spPr>
          <a:xfrm>
            <a:off x="4617720" y="254196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 31"/>
          <p:cNvSpPr/>
          <p:nvPr/>
        </p:nvSpPr>
        <p:spPr>
          <a:xfrm>
            <a:off x="4663440" y="25876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Multer saves file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32"/>
          <p:cNvSpPr/>
          <p:nvPr/>
        </p:nvSpPr>
        <p:spPr>
          <a:xfrm>
            <a:off x="6858000" y="254196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 33"/>
          <p:cNvSpPr/>
          <p:nvPr/>
        </p:nvSpPr>
        <p:spPr>
          <a:xfrm>
            <a:off x="6903720" y="258768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INSERT Files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34"/>
          <p:cNvSpPr/>
          <p:nvPr/>
        </p:nvSpPr>
        <p:spPr>
          <a:xfrm>
            <a:off x="137160" y="307224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 35"/>
          <p:cNvSpPr/>
          <p:nvPr/>
        </p:nvSpPr>
        <p:spPr>
          <a:xfrm>
            <a:off x="182880" y="31179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Place Order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36"/>
          <p:cNvSpPr/>
          <p:nvPr/>
        </p:nvSpPr>
        <p:spPr>
          <a:xfrm>
            <a:off x="2377440" y="307224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 37"/>
          <p:cNvSpPr/>
          <p:nvPr/>
        </p:nvSpPr>
        <p:spPr>
          <a:xfrm>
            <a:off x="2423160" y="31179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POST /api/order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38"/>
          <p:cNvSpPr/>
          <p:nvPr/>
        </p:nvSpPr>
        <p:spPr>
          <a:xfrm>
            <a:off x="4617720" y="307224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 39"/>
          <p:cNvSpPr/>
          <p:nvPr/>
        </p:nvSpPr>
        <p:spPr>
          <a:xfrm>
            <a:off x="4663440" y="31179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Validate stock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40"/>
          <p:cNvSpPr/>
          <p:nvPr/>
        </p:nvSpPr>
        <p:spPr>
          <a:xfrm>
            <a:off x="6858000" y="3072240"/>
            <a:ext cx="2011320" cy="456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 41"/>
          <p:cNvSpPr/>
          <p:nvPr/>
        </p:nvSpPr>
        <p:spPr>
          <a:xfrm>
            <a:off x="6903720" y="3117960"/>
            <a:ext cx="191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INSERT Orders +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Order_items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42"/>
          <p:cNvSpPr/>
          <p:nvPr/>
        </p:nvSpPr>
        <p:spPr>
          <a:xfrm>
            <a:off x="2377440" y="3749040"/>
            <a:ext cx="2011320" cy="548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 43"/>
          <p:cNvSpPr/>
          <p:nvPr/>
        </p:nvSpPr>
        <p:spPr>
          <a:xfrm>
            <a:off x="2423160" y="3794760"/>
            <a:ext cx="191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Email sent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44"/>
          <p:cNvSpPr/>
          <p:nvPr/>
        </p:nvSpPr>
        <p:spPr>
          <a:xfrm>
            <a:off x="4617720" y="3749040"/>
            <a:ext cx="2011320" cy="548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 45"/>
          <p:cNvSpPr/>
          <p:nvPr/>
        </p:nvSpPr>
        <p:spPr>
          <a:xfrm>
            <a:off x="4663440" y="3794760"/>
            <a:ext cx="1919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sendOrderConfirmation()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Admin Panel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2"/>
          <p:cNvSpPr/>
          <p:nvPr/>
        </p:nvSpPr>
        <p:spPr>
          <a:xfrm>
            <a:off x="274320" y="1005840"/>
            <a:ext cx="411444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 3"/>
          <p:cNvSpPr/>
          <p:nvPr/>
        </p:nvSpPr>
        <p:spPr>
          <a:xfrm>
            <a:off x="411480" y="109728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Georgia"/>
                <a:ea typeface="Georgia"/>
              </a:rPr>
              <a:t>Role-Based Access Control</a:t>
            </a:r>
            <a:endParaRPr lang="hu-H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4"/>
          <p:cNvSpPr/>
          <p:nvPr/>
        </p:nvSpPr>
        <p:spPr>
          <a:xfrm>
            <a:off x="347400" y="1554480"/>
            <a:ext cx="3840120" cy="6854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 5"/>
          <p:cNvSpPr/>
          <p:nvPr/>
        </p:nvSpPr>
        <p:spPr>
          <a:xfrm>
            <a:off x="411480" y="1645920"/>
            <a:ext cx="82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Role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6"/>
          <p:cNvSpPr/>
          <p:nvPr/>
        </p:nvSpPr>
        <p:spPr>
          <a:xfrm>
            <a:off x="1280160" y="1627560"/>
            <a:ext cx="2834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Access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7"/>
          <p:cNvSpPr/>
          <p:nvPr/>
        </p:nvSpPr>
        <p:spPr>
          <a:xfrm>
            <a:off x="347400" y="2304360"/>
            <a:ext cx="3840120" cy="68544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8"/>
          <p:cNvSpPr/>
          <p:nvPr/>
        </p:nvSpPr>
        <p:spPr>
          <a:xfrm>
            <a:off x="411480" y="2395800"/>
            <a:ext cx="82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9"/>
          <p:cNvSpPr/>
          <p:nvPr/>
        </p:nvSpPr>
        <p:spPr>
          <a:xfrm>
            <a:off x="1280160" y="2377440"/>
            <a:ext cx="2834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Own orders, profile, cart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0"/>
          <p:cNvSpPr/>
          <p:nvPr/>
        </p:nvSpPr>
        <p:spPr>
          <a:xfrm>
            <a:off x="347400" y="3054240"/>
            <a:ext cx="3840120" cy="68544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Text 11"/>
          <p:cNvSpPr/>
          <p:nvPr/>
        </p:nvSpPr>
        <p:spPr>
          <a:xfrm>
            <a:off x="411480" y="3145680"/>
            <a:ext cx="82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admin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2"/>
          <p:cNvSpPr/>
          <p:nvPr/>
        </p:nvSpPr>
        <p:spPr>
          <a:xfrm>
            <a:off x="1280160" y="3127320"/>
            <a:ext cx="2834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All above + product CRUD, order status, analytics, audit logs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3"/>
          <p:cNvSpPr/>
          <p:nvPr/>
        </p:nvSpPr>
        <p:spPr>
          <a:xfrm>
            <a:off x="411480" y="374904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Code: authMiddleware.ts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4"/>
          <p:cNvSpPr/>
          <p:nvPr/>
        </p:nvSpPr>
        <p:spPr>
          <a:xfrm>
            <a:off x="347400" y="4041720"/>
            <a:ext cx="3840120" cy="63972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 15"/>
          <p:cNvSpPr/>
          <p:nvPr/>
        </p:nvSpPr>
        <p:spPr>
          <a:xfrm>
            <a:off x="411480" y="411480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c000"/>
                </a:solidFill>
                <a:effectLst/>
                <a:uFillTx/>
                <a:latin typeface="Consolas"/>
                <a:ea typeface="Consolas"/>
              </a:rPr>
              <a:t>if (req.user.role !== "admin") → 403 Forbidden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6"/>
          <p:cNvSpPr/>
          <p:nvPr/>
        </p:nvSpPr>
        <p:spPr>
          <a:xfrm>
            <a:off x="4663440" y="1005840"/>
            <a:ext cx="420588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Shape 17"/>
          <p:cNvSpPr/>
          <p:nvPr/>
        </p:nvSpPr>
        <p:spPr>
          <a:xfrm>
            <a:off x="4663440" y="1005840"/>
            <a:ext cx="63720" cy="685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 18"/>
          <p:cNvSpPr/>
          <p:nvPr/>
        </p:nvSpPr>
        <p:spPr>
          <a:xfrm>
            <a:off x="4800600" y="106056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Product CRUD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9"/>
          <p:cNvSpPr/>
          <p:nvPr/>
        </p:nvSpPr>
        <p:spPr>
          <a:xfrm>
            <a:off x="4800600" y="137160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Create, edit, delete products with pricing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20"/>
          <p:cNvSpPr/>
          <p:nvPr/>
        </p:nvSpPr>
        <p:spPr>
          <a:xfrm>
            <a:off x="4663440" y="1774080"/>
            <a:ext cx="420588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Shape 21"/>
          <p:cNvSpPr/>
          <p:nvPr/>
        </p:nvSpPr>
        <p:spPr>
          <a:xfrm>
            <a:off x="4663440" y="1774080"/>
            <a:ext cx="63720" cy="685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 22"/>
          <p:cNvSpPr/>
          <p:nvPr/>
        </p:nvSpPr>
        <p:spPr>
          <a:xfrm>
            <a:off x="4800600" y="182880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Order Status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3"/>
          <p:cNvSpPr/>
          <p:nvPr/>
        </p:nvSpPr>
        <p:spPr>
          <a:xfrm>
            <a:off x="4800600" y="213984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Shape 24"/>
          <p:cNvSpPr/>
          <p:nvPr/>
        </p:nvSpPr>
        <p:spPr>
          <a:xfrm>
            <a:off x="4663440" y="2541960"/>
            <a:ext cx="420588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" name="Shape 25"/>
          <p:cNvSpPr/>
          <p:nvPr/>
        </p:nvSpPr>
        <p:spPr>
          <a:xfrm>
            <a:off x="4663440" y="2541960"/>
            <a:ext cx="63720" cy="685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 26"/>
          <p:cNvSpPr/>
          <p:nvPr/>
        </p:nvSpPr>
        <p:spPr>
          <a:xfrm>
            <a:off x="4800600" y="259704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Ratings View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7"/>
          <p:cNvSpPr/>
          <p:nvPr/>
        </p:nvSpPr>
        <p:spPr>
          <a:xfrm>
            <a:off x="4800600" y="290772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See all user reviews with star ratings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8"/>
          <p:cNvSpPr/>
          <p:nvPr/>
        </p:nvSpPr>
        <p:spPr>
          <a:xfrm>
            <a:off x="4663440" y="3310200"/>
            <a:ext cx="420588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" name="Shape 29"/>
          <p:cNvSpPr/>
          <p:nvPr/>
        </p:nvSpPr>
        <p:spPr>
          <a:xfrm>
            <a:off x="4663440" y="3310200"/>
            <a:ext cx="63720" cy="685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 30"/>
          <p:cNvSpPr/>
          <p:nvPr/>
        </p:nvSpPr>
        <p:spPr>
          <a:xfrm>
            <a:off x="4800600" y="336492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Analytics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1"/>
          <p:cNvSpPr/>
          <p:nvPr/>
        </p:nvSpPr>
        <p:spPr>
          <a:xfrm>
            <a:off x="4800600" y="367596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Total orders, revenue, </a:t>
            </a:r>
            <a:r>
              <a:rPr lang="hu-HU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average </a:t>
            </a: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order value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32"/>
          <p:cNvSpPr/>
          <p:nvPr/>
        </p:nvSpPr>
        <p:spPr>
          <a:xfrm>
            <a:off x="4663440" y="4078080"/>
            <a:ext cx="420588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" name="Shape 33"/>
          <p:cNvSpPr/>
          <p:nvPr/>
        </p:nvSpPr>
        <p:spPr>
          <a:xfrm>
            <a:off x="4663440" y="4078080"/>
            <a:ext cx="63720" cy="685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 34"/>
          <p:cNvSpPr/>
          <p:nvPr/>
        </p:nvSpPr>
        <p:spPr>
          <a:xfrm>
            <a:off x="4800600" y="413316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Audit Logs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5"/>
          <p:cNvSpPr/>
          <p:nvPr/>
        </p:nvSpPr>
        <p:spPr>
          <a:xfrm>
            <a:off x="4800600" y="4443840"/>
            <a:ext cx="39315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Per-user system event log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File Upload &amp; Custom Calendar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"/>
          <p:cNvSpPr/>
          <p:nvPr/>
        </p:nvSpPr>
        <p:spPr>
          <a:xfrm>
            <a:off x="274320" y="105156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6b6d4"/>
                </a:solidFill>
                <a:effectLst/>
                <a:uFillTx/>
                <a:latin typeface="Georgia"/>
                <a:ea typeface="Georgia"/>
              </a:rPr>
              <a:t>Upload Middleware (Multer)</a:t>
            </a:r>
            <a:endParaRPr lang="hu-H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"/>
          <p:cNvSpPr/>
          <p:nvPr/>
        </p:nvSpPr>
        <p:spPr>
          <a:xfrm>
            <a:off x="274320" y="1481400"/>
            <a:ext cx="5028840" cy="191988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 4"/>
          <p:cNvSpPr/>
          <p:nvPr/>
        </p:nvSpPr>
        <p:spPr>
          <a:xfrm>
            <a:off x="384120" y="1572840"/>
            <a:ext cx="4800240" cy="17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// uploadMiddleware.ts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const storage = multer.diskStorage({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destination: config.uploadDir,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filename: (req, file, cb) =&gt; {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  const unique = Date.now() + '-' + Math.random() + '-' + file.originalname;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  cb(null, unique);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});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export const uploadMiddleware = util.promisify(upload.single('file'));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5"/>
          <p:cNvSpPr/>
          <p:nvPr/>
        </p:nvSpPr>
        <p:spPr>
          <a:xfrm>
            <a:off x="274320" y="356616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Files stored on server with unique timestamped names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6"/>
          <p:cNvSpPr/>
          <p:nvPr/>
        </p:nvSpPr>
        <p:spPr>
          <a:xfrm>
            <a:off x="274320" y="393192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Single-file and multi-file (max 20) endpoints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7"/>
          <p:cNvSpPr/>
          <p:nvPr/>
        </p:nvSpPr>
        <p:spPr>
          <a:xfrm>
            <a:off x="274320" y="429768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File ID returned</a:t>
            </a:r>
            <a:r>
              <a:rPr lang="hu-HU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,</a:t>
            </a: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linked to Order_items via Tetel_fajlok table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8"/>
          <p:cNvSpPr/>
          <p:nvPr/>
        </p:nvSpPr>
        <p:spPr>
          <a:xfrm>
            <a:off x="274320" y="46634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Admin can download customer files via authenticated endpoint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5486400" y="1005840"/>
            <a:ext cx="338292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" name="Shape 10"/>
          <p:cNvSpPr/>
          <p:nvPr/>
        </p:nvSpPr>
        <p:spPr>
          <a:xfrm>
            <a:off x="5486400" y="1005840"/>
            <a:ext cx="3382920" cy="411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" name="Text 11"/>
          <p:cNvSpPr/>
          <p:nvPr/>
        </p:nvSpPr>
        <p:spPr>
          <a:xfrm>
            <a:off x="5559480" y="1024200"/>
            <a:ext cx="3245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Custom Calendar Product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2"/>
          <p:cNvSpPr/>
          <p:nvPr/>
        </p:nvSpPr>
        <p:spPr>
          <a:xfrm>
            <a:off x="5577840" y="1554480"/>
            <a:ext cx="3200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Customer uploads 12 photos (one per month)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3"/>
          <p:cNvSpPr/>
          <p:nvPr/>
        </p:nvSpPr>
        <p:spPr>
          <a:xfrm>
            <a:off x="5577840" y="2121480"/>
            <a:ext cx="3200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Live preview renders inside the browser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4"/>
          <p:cNvSpPr/>
          <p:nvPr/>
        </p:nvSpPr>
        <p:spPr>
          <a:xfrm>
            <a:off x="5577840" y="2688480"/>
            <a:ext cx="3200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12-page layout generated from React state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5"/>
          <p:cNvSpPr/>
          <p:nvPr/>
        </p:nvSpPr>
        <p:spPr>
          <a:xfrm>
            <a:off x="5577840" y="3255120"/>
            <a:ext cx="3200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Photos linked to order items via file IDs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6"/>
          <p:cNvSpPr/>
          <p:nvPr/>
        </p:nvSpPr>
        <p:spPr>
          <a:xfrm>
            <a:off x="5577840" y="3822120"/>
            <a:ext cx="3200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Year selector controls the calendar grid</a:t>
            </a:r>
            <a:endParaRPr lang="hu-H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Ratings &amp; Analytics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"/>
          <p:cNvSpPr/>
          <p:nvPr/>
        </p:nvSpPr>
        <p:spPr>
          <a:xfrm>
            <a:off x="274320" y="1005840"/>
            <a:ext cx="411444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411480" y="107892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59e0b"/>
                </a:solidFill>
                <a:effectLst/>
                <a:uFillTx/>
                <a:latin typeface="Georgia"/>
                <a:ea typeface="Georgia"/>
              </a:rPr>
              <a:t>Customer Ratings</a:t>
            </a:r>
            <a:endParaRPr lang="hu-H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4"/>
          <p:cNvSpPr/>
          <p:nvPr/>
        </p:nvSpPr>
        <p:spPr>
          <a:xfrm>
            <a:off x="411480" y="1572840"/>
            <a:ext cx="3840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  <a:ea typeface="Calibri"/>
              </a:rPr>
              <a:t>▸  POST /api/ratings — authenticated users submit 1-5 star rating + comment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411480" y="2194560"/>
            <a:ext cx="3840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  <a:ea typeface="Calibri"/>
              </a:rPr>
              <a:t>▸  GET /api/ratings/avg — public endpoint returns average score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411480" y="2816280"/>
            <a:ext cx="3840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  <a:ea typeface="Calibri"/>
              </a:rPr>
              <a:t>▸  GET /api/ratings/all — admin-only full list with all comments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7"/>
          <p:cNvSpPr/>
          <p:nvPr/>
        </p:nvSpPr>
        <p:spPr>
          <a:xfrm>
            <a:off x="411480" y="3438000"/>
            <a:ext cx="3840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  <a:ea typeface="Calibri"/>
              </a:rPr>
              <a:t>▸  Displayed on homepage with star icons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8"/>
          <p:cNvSpPr/>
          <p:nvPr/>
        </p:nvSpPr>
        <p:spPr>
          <a:xfrm>
            <a:off x="411480" y="4060080"/>
            <a:ext cx="3840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fc000"/>
                </a:solidFill>
                <a:effectLst/>
                <a:uFillTx/>
                <a:latin typeface="Calibri"/>
                <a:ea typeface="Calibri"/>
              </a:rPr>
              <a:t>▸  StoreReviewsBox component renders latest reviews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9"/>
          <p:cNvSpPr/>
          <p:nvPr/>
        </p:nvSpPr>
        <p:spPr>
          <a:xfrm>
            <a:off x="4663440" y="1005840"/>
            <a:ext cx="420588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 10"/>
          <p:cNvSpPr/>
          <p:nvPr/>
        </p:nvSpPr>
        <p:spPr>
          <a:xfrm>
            <a:off x="4800600" y="107892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6b6d4"/>
                </a:solidFill>
                <a:effectLst/>
                <a:uFillTx/>
                <a:latin typeface="Georgia"/>
                <a:ea typeface="Georgia"/>
              </a:rPr>
              <a:t>Admin Analytics</a:t>
            </a:r>
            <a:endParaRPr lang="hu-H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1"/>
          <p:cNvSpPr/>
          <p:nvPr/>
        </p:nvSpPr>
        <p:spPr>
          <a:xfrm>
            <a:off x="4754880" y="1572840"/>
            <a:ext cx="3977280" cy="65808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 12"/>
          <p:cNvSpPr/>
          <p:nvPr/>
        </p:nvSpPr>
        <p:spPr>
          <a:xfrm>
            <a:off x="4846320" y="162756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total_orders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3"/>
          <p:cNvSpPr/>
          <p:nvPr/>
        </p:nvSpPr>
        <p:spPr>
          <a:xfrm>
            <a:off x="4846320" y="192024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Count of all orders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4"/>
          <p:cNvSpPr/>
          <p:nvPr/>
        </p:nvSpPr>
        <p:spPr>
          <a:xfrm>
            <a:off x="4754880" y="2322720"/>
            <a:ext cx="3977280" cy="65808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 15"/>
          <p:cNvSpPr/>
          <p:nvPr/>
        </p:nvSpPr>
        <p:spPr>
          <a:xfrm>
            <a:off x="4846320" y="237744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total_revenue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6"/>
          <p:cNvSpPr/>
          <p:nvPr/>
        </p:nvSpPr>
        <p:spPr>
          <a:xfrm>
            <a:off x="4846320" y="267012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Sum of all order prices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7"/>
          <p:cNvSpPr/>
          <p:nvPr/>
        </p:nvSpPr>
        <p:spPr>
          <a:xfrm>
            <a:off x="4754880" y="3072240"/>
            <a:ext cx="3977280" cy="65808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 18"/>
          <p:cNvSpPr/>
          <p:nvPr/>
        </p:nvSpPr>
        <p:spPr>
          <a:xfrm>
            <a:off x="4846320" y="312732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avg_order_value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9"/>
          <p:cNvSpPr/>
          <p:nvPr/>
        </p:nvSpPr>
        <p:spPr>
          <a:xfrm>
            <a:off x="4846320" y="342000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Average order amount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0"/>
          <p:cNvSpPr/>
          <p:nvPr/>
        </p:nvSpPr>
        <p:spPr>
          <a:xfrm>
            <a:off x="4754880" y="3822120"/>
            <a:ext cx="3977280" cy="65808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 21"/>
          <p:cNvSpPr/>
          <p:nvPr/>
        </p:nvSpPr>
        <p:spPr>
          <a:xfrm>
            <a:off x="4846320" y="387720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last_login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2"/>
          <p:cNvSpPr/>
          <p:nvPr/>
        </p:nvSpPr>
        <p:spPr>
          <a:xfrm>
            <a:off x="4846320" y="4169520"/>
            <a:ext cx="3748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Per-user login timestamp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3"/>
          <p:cNvSpPr/>
          <p:nvPr/>
        </p:nvSpPr>
        <p:spPr>
          <a:xfrm>
            <a:off x="4754880" y="4572000"/>
            <a:ext cx="39772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Endpoint: GET /api/admin/analytics/orders  (admin only)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Email Notifications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"/>
          <p:cNvSpPr/>
          <p:nvPr/>
        </p:nvSpPr>
        <p:spPr>
          <a:xfrm>
            <a:off x="274320" y="1005840"/>
            <a:ext cx="8595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After a successful order, the system automatically sends an HTML confirmation email to the customer using Nodemailer.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3"/>
          <p:cNvSpPr/>
          <p:nvPr/>
        </p:nvSpPr>
        <p:spPr>
          <a:xfrm>
            <a:off x="274320" y="1600200"/>
            <a:ext cx="5120280" cy="255996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 4"/>
          <p:cNvSpPr/>
          <p:nvPr/>
        </p:nvSpPr>
        <p:spPr>
          <a:xfrm>
            <a:off x="411480" y="1664280"/>
            <a:ext cx="4754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// sendOrderMail.ts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5"/>
          <p:cNvSpPr/>
          <p:nvPr/>
        </p:nvSpPr>
        <p:spPr>
          <a:xfrm>
            <a:off x="411480" y="1965960"/>
            <a:ext cx="48459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export const sendOrderConfirmation =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async (email, orderId, total) =&gt; {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await transporter.sendMail({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  from: `"Print Shop" &lt;${MAIL_USER}&gt;`,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  to: email,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  subject: 'Sikeres rendelés',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  html: `&lt;h2&gt;Rendelés visszaigazolás&lt;/h2&gt;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         &lt;p&gt;ID: &lt;b&gt;${orderId}&lt;/b&gt;&lt;/p&gt;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         &lt;p&gt;Összeg: &lt;b&gt;${total} Ft&lt;/b&gt;&lt;/p&gt;`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};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6"/>
          <p:cNvSpPr/>
          <p:nvPr/>
        </p:nvSpPr>
        <p:spPr>
          <a:xfrm>
            <a:off x="5669280" y="1600200"/>
            <a:ext cx="3200040" cy="776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 7"/>
          <p:cNvSpPr/>
          <p:nvPr/>
        </p:nvSpPr>
        <p:spPr>
          <a:xfrm>
            <a:off x="5806440" y="1654920"/>
            <a:ext cx="2925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 Nodemailer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8"/>
          <p:cNvSpPr/>
          <p:nvPr/>
        </p:nvSpPr>
        <p:spPr>
          <a:xfrm>
            <a:off x="5806440" y="1984320"/>
            <a:ext cx="292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SMTP transport configured via .env (MAIL_USER, MAIL_PASS)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9"/>
          <p:cNvSpPr/>
          <p:nvPr/>
        </p:nvSpPr>
        <p:spPr>
          <a:xfrm>
            <a:off x="5669280" y="2514600"/>
            <a:ext cx="3200040" cy="776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6" name="Text 10"/>
          <p:cNvSpPr/>
          <p:nvPr/>
        </p:nvSpPr>
        <p:spPr>
          <a:xfrm>
            <a:off x="5806440" y="2569320"/>
            <a:ext cx="2925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 Integration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1"/>
          <p:cNvSpPr/>
          <p:nvPr/>
        </p:nvSpPr>
        <p:spPr>
          <a:xfrm>
            <a:off x="5806440" y="2898720"/>
            <a:ext cx="292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Called directly inside createOrder() after DB insert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12"/>
          <p:cNvSpPr/>
          <p:nvPr/>
        </p:nvSpPr>
        <p:spPr>
          <a:xfrm>
            <a:off x="5669280" y="3429000"/>
            <a:ext cx="3200040" cy="776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9" name="Text 13"/>
          <p:cNvSpPr/>
          <p:nvPr/>
        </p:nvSpPr>
        <p:spPr>
          <a:xfrm>
            <a:off x="5806440" y="3483720"/>
            <a:ext cx="2925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 HTML Content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4"/>
          <p:cNvSpPr/>
          <p:nvPr/>
        </p:nvSpPr>
        <p:spPr>
          <a:xfrm>
            <a:off x="5806440" y="3813120"/>
            <a:ext cx="292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Order ID, total price, thank-you message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15"/>
          <p:cNvSpPr/>
          <p:nvPr/>
        </p:nvSpPr>
        <p:spPr>
          <a:xfrm>
            <a:off x="5669280" y="4343400"/>
            <a:ext cx="3200040" cy="776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 16"/>
          <p:cNvSpPr/>
          <p:nvPr/>
        </p:nvSpPr>
        <p:spPr>
          <a:xfrm>
            <a:off x="5806440" y="4398120"/>
            <a:ext cx="29257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 Config</a:t>
            </a:r>
            <a:endParaRPr lang="hu-H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7"/>
          <p:cNvSpPr/>
          <p:nvPr/>
        </p:nvSpPr>
        <p:spPr>
          <a:xfrm>
            <a:off x="5806440" y="4727520"/>
            <a:ext cx="29257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mailer.ts creates the reusable transporter instance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Frontend Structure &amp; Components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2"/>
          <p:cNvSpPr/>
          <p:nvPr/>
        </p:nvSpPr>
        <p:spPr>
          <a:xfrm>
            <a:off x="182880" y="100584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7" name="Shape 3"/>
          <p:cNvSpPr/>
          <p:nvPr/>
        </p:nvSpPr>
        <p:spPr>
          <a:xfrm>
            <a:off x="182880" y="100584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 4"/>
          <p:cNvSpPr/>
          <p:nvPr/>
        </p:nvSpPr>
        <p:spPr>
          <a:xfrm>
            <a:off x="320040" y="104256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App.jsx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320040" y="130752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Root component — manages auth state, cart, routing via page state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6"/>
          <p:cNvSpPr/>
          <p:nvPr/>
        </p:nvSpPr>
        <p:spPr>
          <a:xfrm>
            <a:off x="182880" y="167328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1" name="Shape 7"/>
          <p:cNvSpPr/>
          <p:nvPr/>
        </p:nvSpPr>
        <p:spPr>
          <a:xfrm>
            <a:off x="182880" y="167328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2" name="Text 8"/>
          <p:cNvSpPr/>
          <p:nvPr/>
        </p:nvSpPr>
        <p:spPr>
          <a:xfrm>
            <a:off x="320040" y="171000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Navbar.jsx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9"/>
          <p:cNvSpPr/>
          <p:nvPr/>
        </p:nvSpPr>
        <p:spPr>
          <a:xfrm>
            <a:off x="320040" y="197496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Navigation, login/logout, cart badge, admin button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0"/>
          <p:cNvSpPr/>
          <p:nvPr/>
        </p:nvSpPr>
        <p:spPr>
          <a:xfrm>
            <a:off x="182880" y="234072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5" name="Shape 11"/>
          <p:cNvSpPr/>
          <p:nvPr/>
        </p:nvSpPr>
        <p:spPr>
          <a:xfrm>
            <a:off x="182880" y="234072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 12"/>
          <p:cNvSpPr/>
          <p:nvPr/>
        </p:nvSpPr>
        <p:spPr>
          <a:xfrm>
            <a:off x="320040" y="237744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Fooldal.jsx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3"/>
          <p:cNvSpPr/>
          <p:nvPr/>
        </p:nvSpPr>
        <p:spPr>
          <a:xfrm>
            <a:off x="320040" y="264276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Homepage with hero, intro, rating average display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4"/>
          <p:cNvSpPr/>
          <p:nvPr/>
        </p:nvSpPr>
        <p:spPr>
          <a:xfrm>
            <a:off x="182880" y="300852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9" name="Shape 15"/>
          <p:cNvSpPr/>
          <p:nvPr/>
        </p:nvSpPr>
        <p:spPr>
          <a:xfrm>
            <a:off x="182880" y="300852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0" name="Text 16"/>
          <p:cNvSpPr/>
          <p:nvPr/>
        </p:nvSpPr>
        <p:spPr>
          <a:xfrm>
            <a:off x="320040" y="304488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Arlista.jsx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7"/>
          <p:cNvSpPr/>
          <p:nvPr/>
        </p:nvSpPr>
        <p:spPr>
          <a:xfrm>
            <a:off x="320040" y="331020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Product listing — browse and add to cart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8"/>
          <p:cNvSpPr/>
          <p:nvPr/>
        </p:nvSpPr>
        <p:spPr>
          <a:xfrm>
            <a:off x="182880" y="367596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Shape 19"/>
          <p:cNvSpPr/>
          <p:nvPr/>
        </p:nvSpPr>
        <p:spPr>
          <a:xfrm>
            <a:off x="182880" y="367596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4" name="Text 20"/>
          <p:cNvSpPr/>
          <p:nvPr/>
        </p:nvSpPr>
        <p:spPr>
          <a:xfrm>
            <a:off x="320040" y="371232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Services.jsx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21"/>
          <p:cNvSpPr/>
          <p:nvPr/>
        </p:nvSpPr>
        <p:spPr>
          <a:xfrm>
            <a:off x="320040" y="397764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Description of available print services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2"/>
          <p:cNvSpPr/>
          <p:nvPr/>
        </p:nvSpPr>
        <p:spPr>
          <a:xfrm>
            <a:off x="182880" y="434340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7" name="Shape 23"/>
          <p:cNvSpPr/>
          <p:nvPr/>
        </p:nvSpPr>
        <p:spPr>
          <a:xfrm>
            <a:off x="182880" y="434340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8" name="Text 24"/>
          <p:cNvSpPr/>
          <p:nvPr/>
        </p:nvSpPr>
        <p:spPr>
          <a:xfrm>
            <a:off x="320040" y="438012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Cart.jsx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5"/>
          <p:cNvSpPr/>
          <p:nvPr/>
        </p:nvSpPr>
        <p:spPr>
          <a:xfrm>
            <a:off x="320040" y="464508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Cart management + calendar preview + file upload per item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26"/>
          <p:cNvSpPr/>
          <p:nvPr/>
        </p:nvSpPr>
        <p:spPr>
          <a:xfrm>
            <a:off x="4663440" y="100584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Shape 27"/>
          <p:cNvSpPr/>
          <p:nvPr/>
        </p:nvSpPr>
        <p:spPr>
          <a:xfrm>
            <a:off x="4663440" y="100584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 28"/>
          <p:cNvSpPr/>
          <p:nvPr/>
        </p:nvSpPr>
        <p:spPr>
          <a:xfrm>
            <a:off x="4800600" y="104256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Login.jsx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9"/>
          <p:cNvSpPr/>
          <p:nvPr/>
        </p:nvSpPr>
        <p:spPr>
          <a:xfrm>
            <a:off x="4800600" y="130752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Login form — stores JWT in localStorage via api.js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30"/>
          <p:cNvSpPr/>
          <p:nvPr/>
        </p:nvSpPr>
        <p:spPr>
          <a:xfrm>
            <a:off x="4663440" y="167328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Shape 31"/>
          <p:cNvSpPr/>
          <p:nvPr/>
        </p:nvSpPr>
        <p:spPr>
          <a:xfrm>
            <a:off x="4663440" y="167328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6" name="Text 32"/>
          <p:cNvSpPr/>
          <p:nvPr/>
        </p:nvSpPr>
        <p:spPr>
          <a:xfrm>
            <a:off x="4800600" y="171000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Register.jsx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3"/>
          <p:cNvSpPr/>
          <p:nvPr/>
        </p:nvSpPr>
        <p:spPr>
          <a:xfrm>
            <a:off x="4800600" y="197496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Registration form, optional profile image upload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34"/>
          <p:cNvSpPr/>
          <p:nvPr/>
        </p:nvSpPr>
        <p:spPr>
          <a:xfrm>
            <a:off x="4663440" y="234072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35"/>
          <p:cNvSpPr/>
          <p:nvPr/>
        </p:nvSpPr>
        <p:spPr>
          <a:xfrm>
            <a:off x="4663440" y="234072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36"/>
          <p:cNvSpPr/>
          <p:nvPr/>
        </p:nvSpPr>
        <p:spPr>
          <a:xfrm>
            <a:off x="4800600" y="237744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Profile.jsx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37"/>
          <p:cNvSpPr/>
          <p:nvPr/>
        </p:nvSpPr>
        <p:spPr>
          <a:xfrm>
            <a:off x="4800600" y="264276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View/edit user data, change password, view own orders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38"/>
          <p:cNvSpPr/>
          <p:nvPr/>
        </p:nvSpPr>
        <p:spPr>
          <a:xfrm>
            <a:off x="4663440" y="300852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3" name="Shape 39"/>
          <p:cNvSpPr/>
          <p:nvPr/>
        </p:nvSpPr>
        <p:spPr>
          <a:xfrm>
            <a:off x="4663440" y="300852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Text 40"/>
          <p:cNvSpPr/>
          <p:nvPr/>
        </p:nvSpPr>
        <p:spPr>
          <a:xfrm>
            <a:off x="4800600" y="304488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Admin.jsx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41"/>
          <p:cNvSpPr/>
          <p:nvPr/>
        </p:nvSpPr>
        <p:spPr>
          <a:xfrm>
            <a:off x="4800600" y="331020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Full admin panel with tabs: products, orders, ratings, analytics, logs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42"/>
          <p:cNvSpPr/>
          <p:nvPr/>
        </p:nvSpPr>
        <p:spPr>
          <a:xfrm>
            <a:off x="4663440" y="367596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7" name="Shape 43"/>
          <p:cNvSpPr/>
          <p:nvPr/>
        </p:nvSpPr>
        <p:spPr>
          <a:xfrm>
            <a:off x="4663440" y="367596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8" name="Text 44"/>
          <p:cNvSpPr/>
          <p:nvPr/>
        </p:nvSpPr>
        <p:spPr>
          <a:xfrm>
            <a:off x="4800600" y="371232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StoreReviewsBox.jsx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45"/>
          <p:cNvSpPr/>
          <p:nvPr/>
        </p:nvSpPr>
        <p:spPr>
          <a:xfrm>
            <a:off x="4800600" y="397764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Displays public reviews with star ratings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46"/>
          <p:cNvSpPr/>
          <p:nvPr/>
        </p:nvSpPr>
        <p:spPr>
          <a:xfrm>
            <a:off x="4663440" y="4343400"/>
            <a:ext cx="4297320" cy="594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1" name="Shape 47"/>
          <p:cNvSpPr/>
          <p:nvPr/>
        </p:nvSpPr>
        <p:spPr>
          <a:xfrm>
            <a:off x="4663440" y="4343400"/>
            <a:ext cx="54360" cy="594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 48"/>
          <p:cNvSpPr/>
          <p:nvPr/>
        </p:nvSpPr>
        <p:spPr>
          <a:xfrm>
            <a:off x="4800600" y="4380120"/>
            <a:ext cx="137124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api.js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9"/>
          <p:cNvSpPr/>
          <p:nvPr/>
        </p:nvSpPr>
        <p:spPr>
          <a:xfrm>
            <a:off x="4800600" y="4645080"/>
            <a:ext cx="40687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Central API layer — all fetch() calls, token injection, error handling</a:t>
            </a:r>
            <a:endParaRPr lang="hu-H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How Frontend &amp; Backend Connect via JSON</a:t>
            </a:r>
            <a:endParaRPr lang="hu-H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2"/>
          <p:cNvSpPr/>
          <p:nvPr/>
        </p:nvSpPr>
        <p:spPr>
          <a:xfrm>
            <a:off x="274320" y="1005840"/>
            <a:ext cx="8595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5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All data exchange happens via HTTP REST using JSON. The frontend api.js module centralises every request.</a:t>
            </a:r>
            <a:endParaRPr lang="hu-HU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3"/>
          <p:cNvSpPr/>
          <p:nvPr/>
        </p:nvSpPr>
        <p:spPr>
          <a:xfrm>
            <a:off x="274320" y="1508760"/>
            <a:ext cx="4297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6b6d4"/>
                </a:solidFill>
                <a:effectLst/>
                <a:uFillTx/>
                <a:latin typeface="Georgia"/>
                <a:ea typeface="Georgia"/>
              </a:rPr>
              <a:t> Request (Frontend → Backend)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4"/>
          <p:cNvSpPr/>
          <p:nvPr/>
        </p:nvSpPr>
        <p:spPr>
          <a:xfrm>
            <a:off x="274320" y="1874520"/>
            <a:ext cx="4297320" cy="191988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 5"/>
          <p:cNvSpPr/>
          <p:nvPr/>
        </p:nvSpPr>
        <p:spPr>
          <a:xfrm>
            <a:off x="384120" y="1920240"/>
            <a:ext cx="41144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POST /api/order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Authorization: Bearer &lt;jwt_token&gt;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Content-Type: application/json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"items": [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  { "productId": 3, "quantity": 2, "fileId": 7 }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  ]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6"/>
          <p:cNvSpPr/>
          <p:nvPr/>
        </p:nvSpPr>
        <p:spPr>
          <a:xfrm>
            <a:off x="4754880" y="150876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59e0b"/>
                </a:solidFill>
                <a:effectLst/>
                <a:uFillTx/>
                <a:latin typeface="Georgia"/>
                <a:ea typeface="Georgia"/>
              </a:rPr>
              <a:t> Response (Backend → Frontend)</a:t>
            </a:r>
            <a:endParaRPr lang="hu-H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7"/>
          <p:cNvSpPr/>
          <p:nvPr/>
        </p:nvSpPr>
        <p:spPr>
          <a:xfrm>
            <a:off x="4754880" y="1874520"/>
            <a:ext cx="4114440" cy="191988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8"/>
          <p:cNvSpPr/>
          <p:nvPr/>
        </p:nvSpPr>
        <p:spPr>
          <a:xfrm>
            <a:off x="4864680" y="1920240"/>
            <a:ext cx="393156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HTTP 201 Created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Content-Type: application/json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"order_id": 42,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"status": "pending",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"total_price": 15000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hu-H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9"/>
          <p:cNvSpPr/>
          <p:nvPr/>
        </p:nvSpPr>
        <p:spPr>
          <a:xfrm>
            <a:off x="274320" y="3904560"/>
            <a:ext cx="8595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Products stored with image_urls as a JSON column in MySQL, parsed with JSON.parse() in the controller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0"/>
          <p:cNvSpPr/>
          <p:nvPr/>
        </p:nvSpPr>
        <p:spPr>
          <a:xfrm>
            <a:off x="274320" y="4288680"/>
            <a:ext cx="8595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Passwords never returned in API responses — only hashed at rest (bcrypt, 10 salt rounds)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1"/>
          <p:cNvSpPr/>
          <p:nvPr/>
        </p:nvSpPr>
        <p:spPr>
          <a:xfrm>
            <a:off x="274320" y="4672440"/>
            <a:ext cx="8595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FormData used for file uploads — Content-Type set to multipart/form-data automatically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7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Automated Testing with Cypress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2"/>
          <p:cNvSpPr/>
          <p:nvPr/>
        </p:nvSpPr>
        <p:spPr>
          <a:xfrm>
            <a:off x="228600" y="105156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3"/>
          <p:cNvSpPr/>
          <p:nvPr/>
        </p:nvSpPr>
        <p:spPr>
          <a:xfrm>
            <a:off x="320040" y="11613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0" name="Text 4"/>
          <p:cNvSpPr/>
          <p:nvPr/>
        </p:nvSpPr>
        <p:spPr>
          <a:xfrm>
            <a:off x="731520" y="11062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Login sikeres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5"/>
          <p:cNvSpPr/>
          <p:nvPr/>
        </p:nvSpPr>
        <p:spPr>
          <a:xfrm>
            <a:off x="731520" y="143568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POST /api/auth/login → 200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6"/>
          <p:cNvSpPr/>
          <p:nvPr/>
        </p:nvSpPr>
        <p:spPr>
          <a:xfrm>
            <a:off x="228600" y="184716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3" name="Text 7"/>
          <p:cNvSpPr/>
          <p:nvPr/>
        </p:nvSpPr>
        <p:spPr>
          <a:xfrm>
            <a:off x="320040" y="19569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 8"/>
          <p:cNvSpPr/>
          <p:nvPr/>
        </p:nvSpPr>
        <p:spPr>
          <a:xfrm>
            <a:off x="731520" y="19018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Login hibás jelszóval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9"/>
          <p:cNvSpPr/>
          <p:nvPr/>
        </p:nvSpPr>
        <p:spPr>
          <a:xfrm>
            <a:off x="731520" y="223128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POST /api/auth/login → 401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0"/>
          <p:cNvSpPr/>
          <p:nvPr/>
        </p:nvSpPr>
        <p:spPr>
          <a:xfrm>
            <a:off x="228600" y="264276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7" name="Text 11"/>
          <p:cNvSpPr/>
          <p:nvPr/>
        </p:nvSpPr>
        <p:spPr>
          <a:xfrm>
            <a:off x="320040" y="275220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 12"/>
          <p:cNvSpPr/>
          <p:nvPr/>
        </p:nvSpPr>
        <p:spPr>
          <a:xfrm>
            <a:off x="731520" y="26974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Termékek lekérése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3"/>
          <p:cNvSpPr/>
          <p:nvPr/>
        </p:nvSpPr>
        <p:spPr>
          <a:xfrm>
            <a:off x="731520" y="302652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GET /api/products → 200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4"/>
          <p:cNvSpPr/>
          <p:nvPr/>
        </p:nvSpPr>
        <p:spPr>
          <a:xfrm>
            <a:off x="228600" y="343800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1" name="Text 15"/>
          <p:cNvSpPr/>
          <p:nvPr/>
        </p:nvSpPr>
        <p:spPr>
          <a:xfrm>
            <a:off x="320040" y="354780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 16"/>
          <p:cNvSpPr/>
          <p:nvPr/>
        </p:nvSpPr>
        <p:spPr>
          <a:xfrm>
            <a:off x="731520" y="34930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Egy termék lekérése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7"/>
          <p:cNvSpPr/>
          <p:nvPr/>
        </p:nvSpPr>
        <p:spPr>
          <a:xfrm>
            <a:off x="731520" y="382212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GET /api/products/1 → 200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8"/>
          <p:cNvSpPr/>
          <p:nvPr/>
        </p:nvSpPr>
        <p:spPr>
          <a:xfrm>
            <a:off x="228600" y="423360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5" name="Text 19"/>
          <p:cNvSpPr/>
          <p:nvPr/>
        </p:nvSpPr>
        <p:spPr>
          <a:xfrm>
            <a:off x="320040" y="434340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 20"/>
          <p:cNvSpPr/>
          <p:nvPr/>
        </p:nvSpPr>
        <p:spPr>
          <a:xfrm>
            <a:off x="731520" y="42886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Nem létező termék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1"/>
          <p:cNvSpPr/>
          <p:nvPr/>
        </p:nvSpPr>
        <p:spPr>
          <a:xfrm>
            <a:off x="731520" y="461772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GET /api/products/99999 → 404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22"/>
          <p:cNvSpPr/>
          <p:nvPr/>
        </p:nvSpPr>
        <p:spPr>
          <a:xfrm>
            <a:off x="4709160" y="105156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9" name="Text 23"/>
          <p:cNvSpPr/>
          <p:nvPr/>
        </p:nvSpPr>
        <p:spPr>
          <a:xfrm>
            <a:off x="4800600" y="11613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Text 24"/>
          <p:cNvSpPr/>
          <p:nvPr/>
        </p:nvSpPr>
        <p:spPr>
          <a:xfrm>
            <a:off x="5212080" y="11062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Rendelés létrehozása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25"/>
          <p:cNvSpPr/>
          <p:nvPr/>
        </p:nvSpPr>
        <p:spPr>
          <a:xfrm>
            <a:off x="5212080" y="143568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POST /api/order (auth) → 201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26"/>
          <p:cNvSpPr/>
          <p:nvPr/>
        </p:nvSpPr>
        <p:spPr>
          <a:xfrm>
            <a:off x="4709160" y="184716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3" name="Text 27"/>
          <p:cNvSpPr/>
          <p:nvPr/>
        </p:nvSpPr>
        <p:spPr>
          <a:xfrm>
            <a:off x="4800600" y="195696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4" name="Text 28"/>
          <p:cNvSpPr/>
          <p:nvPr/>
        </p:nvSpPr>
        <p:spPr>
          <a:xfrm>
            <a:off x="5212080" y="19018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Rendelés token nélkül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9"/>
          <p:cNvSpPr/>
          <p:nvPr/>
        </p:nvSpPr>
        <p:spPr>
          <a:xfrm>
            <a:off x="5212080" y="223128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POST /api/order (no auth) → 403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30"/>
          <p:cNvSpPr/>
          <p:nvPr/>
        </p:nvSpPr>
        <p:spPr>
          <a:xfrm>
            <a:off x="4709160" y="264276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7" name="Text 31"/>
          <p:cNvSpPr/>
          <p:nvPr/>
        </p:nvSpPr>
        <p:spPr>
          <a:xfrm>
            <a:off x="4800600" y="275220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Text 32"/>
          <p:cNvSpPr/>
          <p:nvPr/>
        </p:nvSpPr>
        <p:spPr>
          <a:xfrm>
            <a:off x="5212080" y="26974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Rating létrehozás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3"/>
          <p:cNvSpPr/>
          <p:nvPr/>
        </p:nvSpPr>
        <p:spPr>
          <a:xfrm>
            <a:off x="5212080" y="302652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POST /api/ratings (auth) → 201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34"/>
          <p:cNvSpPr/>
          <p:nvPr/>
        </p:nvSpPr>
        <p:spPr>
          <a:xfrm>
            <a:off x="4709160" y="343800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1" name="Text 35"/>
          <p:cNvSpPr/>
          <p:nvPr/>
        </p:nvSpPr>
        <p:spPr>
          <a:xfrm>
            <a:off x="4800600" y="354780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2" name="Text 36"/>
          <p:cNvSpPr/>
          <p:nvPr/>
        </p:nvSpPr>
        <p:spPr>
          <a:xfrm>
            <a:off x="5212080" y="34930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Rating átlag lekérés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37"/>
          <p:cNvSpPr/>
          <p:nvPr/>
        </p:nvSpPr>
        <p:spPr>
          <a:xfrm>
            <a:off x="5212080" y="382212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GET /api/ratings/avg → 200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38"/>
          <p:cNvSpPr/>
          <p:nvPr/>
        </p:nvSpPr>
        <p:spPr>
          <a:xfrm>
            <a:off x="4709160" y="4233600"/>
            <a:ext cx="4297320" cy="685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5" name="Text 39"/>
          <p:cNvSpPr/>
          <p:nvPr/>
        </p:nvSpPr>
        <p:spPr>
          <a:xfrm>
            <a:off x="4800600" y="434340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Text 40"/>
          <p:cNvSpPr/>
          <p:nvPr/>
        </p:nvSpPr>
        <p:spPr>
          <a:xfrm>
            <a:off x="5212080" y="428868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User lekérés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41"/>
          <p:cNvSpPr/>
          <p:nvPr/>
        </p:nvSpPr>
        <p:spPr>
          <a:xfrm>
            <a:off x="5212080" y="4617720"/>
            <a:ext cx="3657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GET /api/users/1 (auth) → 200/403/404</a:t>
            </a:r>
            <a:endParaRPr lang="hu-HU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0"/>
          <p:cNvSpPr/>
          <p:nvPr/>
        </p:nvSpPr>
        <p:spPr>
          <a:xfrm>
            <a:off x="0" y="0"/>
            <a:ext cx="9143640" cy="914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 1"/>
          <p:cNvSpPr/>
          <p:nvPr/>
        </p:nvSpPr>
        <p:spPr>
          <a:xfrm>
            <a:off x="457200" y="1371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Project Management &amp; Team Tools</a:t>
            </a:r>
            <a:endParaRPr lang="hu-H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2"/>
          <p:cNvSpPr/>
          <p:nvPr/>
        </p:nvSpPr>
        <p:spPr>
          <a:xfrm>
            <a:off x="274320" y="1005840"/>
            <a:ext cx="411444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1" name="Shape 3"/>
          <p:cNvSpPr/>
          <p:nvPr/>
        </p:nvSpPr>
        <p:spPr>
          <a:xfrm>
            <a:off x="274320" y="1005840"/>
            <a:ext cx="4114440" cy="438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2" name="Text 4"/>
          <p:cNvSpPr/>
          <p:nvPr/>
        </p:nvSpPr>
        <p:spPr>
          <a:xfrm>
            <a:off x="384120" y="1042560"/>
            <a:ext cx="3840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f172a"/>
                </a:solidFill>
                <a:effectLst/>
                <a:uFillTx/>
                <a:latin typeface="Georgia"/>
                <a:ea typeface="Georgia"/>
              </a:rPr>
              <a:t>  Git — Version Control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5"/>
          <p:cNvSpPr/>
          <p:nvPr/>
        </p:nvSpPr>
        <p:spPr>
          <a:xfrm>
            <a:off x="384120" y="1572840"/>
            <a:ext cx="3885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Single shared repository (GitHub)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6"/>
          <p:cNvSpPr/>
          <p:nvPr/>
        </p:nvSpPr>
        <p:spPr>
          <a:xfrm>
            <a:off x="384120" y="2103120"/>
            <a:ext cx="3885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main branch as the stable production branch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7"/>
          <p:cNvSpPr/>
          <p:nvPr/>
        </p:nvSpPr>
        <p:spPr>
          <a:xfrm>
            <a:off x="384120" y="2633400"/>
            <a:ext cx="3885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Feature branches for</a:t>
            </a:r>
            <a:r>
              <a:rPr lang="hu-HU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 side by side development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8"/>
          <p:cNvSpPr/>
          <p:nvPr/>
        </p:nvSpPr>
        <p:spPr>
          <a:xfrm>
            <a:off x="384120" y="3163680"/>
            <a:ext cx="3885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Commits represent logical units of work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9"/>
          <p:cNvSpPr/>
          <p:nvPr/>
        </p:nvSpPr>
        <p:spPr>
          <a:xfrm>
            <a:off x="384120" y="3694320"/>
            <a:ext cx="3885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.gitignore excludes node_modules, .env, uploads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0"/>
          <p:cNvSpPr/>
          <p:nvPr/>
        </p:nvSpPr>
        <p:spPr>
          <a:xfrm>
            <a:off x="384120" y="4224600"/>
            <a:ext cx="3885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Backend and Frontend in separate subdirectories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1"/>
          <p:cNvSpPr/>
          <p:nvPr/>
        </p:nvSpPr>
        <p:spPr>
          <a:xfrm>
            <a:off x="4663440" y="1005840"/>
            <a:ext cx="4205880" cy="38401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  <a:effectLst>
            <a:outerShdw algn="bl" blurRad="152280" dir="8100000" dist="50402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12"/>
          <p:cNvSpPr/>
          <p:nvPr/>
        </p:nvSpPr>
        <p:spPr>
          <a:xfrm>
            <a:off x="4663440" y="1005840"/>
            <a:ext cx="4205880" cy="438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13"/>
          <p:cNvSpPr/>
          <p:nvPr/>
        </p:nvSpPr>
        <p:spPr>
          <a:xfrm>
            <a:off x="4773240" y="1042560"/>
            <a:ext cx="3977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  Discord — Team Communication</a:t>
            </a:r>
            <a:endParaRPr lang="hu-H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4"/>
          <p:cNvSpPr/>
          <p:nvPr/>
        </p:nvSpPr>
        <p:spPr>
          <a:xfrm>
            <a:off x="4773240" y="1572840"/>
            <a:ext cx="3977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Primary communication channel for the team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5"/>
          <p:cNvSpPr/>
          <p:nvPr/>
        </p:nvSpPr>
        <p:spPr>
          <a:xfrm>
            <a:off x="4773240" y="2103120"/>
            <a:ext cx="3977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4" name="Text 16"/>
          <p:cNvSpPr/>
          <p:nvPr/>
        </p:nvSpPr>
        <p:spPr>
          <a:xfrm>
            <a:off x="4773240" y="2070360"/>
            <a:ext cx="3977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Daily progress updates and task handoffs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7"/>
          <p:cNvSpPr/>
          <p:nvPr/>
        </p:nvSpPr>
        <p:spPr>
          <a:xfrm>
            <a:off x="4782240" y="2600640"/>
            <a:ext cx="3977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Code snippets shared directly in chat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8"/>
          <p:cNvSpPr/>
          <p:nvPr/>
        </p:nvSpPr>
        <p:spPr>
          <a:xfrm>
            <a:off x="4773240" y="3694320"/>
            <a:ext cx="3977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 19"/>
          <p:cNvSpPr/>
          <p:nvPr/>
        </p:nvSpPr>
        <p:spPr>
          <a:xfrm>
            <a:off x="4773240" y="3050280"/>
            <a:ext cx="3977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f8fafc"/>
                </a:solidFill>
                <a:effectLst/>
                <a:uFillTx/>
                <a:latin typeface="Calibri"/>
                <a:ea typeface="Calibri"/>
              </a:rPr>
              <a:t>▸  Task assignments and deadline tracking</a:t>
            </a:r>
            <a:endParaRPr lang="hu-H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"/>
          <p:cNvSpPr/>
          <p:nvPr/>
        </p:nvSpPr>
        <p:spPr>
          <a:xfrm>
            <a:off x="-914400" y="-914400"/>
            <a:ext cx="4571640" cy="4571640"/>
          </a:xfrm>
          <a:prstGeom prst="ellipse">
            <a:avLst/>
          </a:prstGeom>
          <a:solidFill>
            <a:srgbClr val="06b6d4">
              <a:alpha val="8000"/>
            </a:srgbClr>
          </a:solidFill>
          <a:ln w="12700">
            <a:solidFill>
              <a:srgbClr val="06b6d4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Shape 2"/>
          <p:cNvSpPr/>
          <p:nvPr/>
        </p:nvSpPr>
        <p:spPr>
          <a:xfrm>
            <a:off x="6400800" y="2286000"/>
            <a:ext cx="3657240" cy="3657240"/>
          </a:xfrm>
          <a:prstGeom prst="ellipse">
            <a:avLst/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1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2" name="Text 4"/>
          <p:cNvSpPr/>
          <p:nvPr/>
        </p:nvSpPr>
        <p:spPr>
          <a:xfrm>
            <a:off x="411480" y="1005840"/>
            <a:ext cx="8229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800" b="1" u="none" strike="noStrike">
                <a:solidFill>
                  <a:srgbClr val="f8fafc"/>
                </a:solidFill>
                <a:effectLst/>
                <a:uFillTx/>
                <a:latin typeface="Georgia"/>
                <a:ea typeface="Georgia"/>
              </a:rPr>
              <a:t>Thank You!</a:t>
            </a:r>
            <a:endParaRPr lang="hu-HU" sz="5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6"/>
          <p:cNvSpPr/>
          <p:nvPr/>
        </p:nvSpPr>
        <p:spPr>
          <a:xfrm>
            <a:off x="411480" y="1974960"/>
            <a:ext cx="2559960" cy="36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 defTabSz="914400">
              <a:lnSpc>
                <a:spcPct val="100000"/>
              </a:lnSpc>
            </a:pPr>
            <a:endParaRPr lang="hu-HU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Application>LibreOffice/25.8.5.2$Windows_X86_64 LibreOffice_project/9c8b85f387cc00a89945a79c9e6239f32e450ac2</Application>
  <AppVersion>15.0000</AppVersion>
  <Words>1663</Words>
  <Paragraphs>311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2026-03-19T08:20:13Z</dcterms:created>
  <dc:creator>Tóth Patrik és Németh Koppány Zoltán</dc:creator>
  <dc:description/>
  <dc:language>hu-HU</dc:language>
  <cp:lastModifiedBy/>
  <dcterms:modified xsi:type="dcterms:W3CDTF">2026-04-16T19:04:04Z</dcterms:modified>
  <cp:revision>85</cp:revision>
  <dc:subject>PptxGenJS Presentation</dc:subject>
  <dc:title>Print Shop – Vizsgaremek Prezentáció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17</vt:i4>
  </property>
  <property fmtid="{D5CDD505-2E9C-101B-9397-08002B2CF9AE}" pid="3" name="PresentationFormat">
    <vt:lpwstr>Diavetítés a képernyőre (16:9 oldalarány)</vt:lpwstr>
  </property>
  <property fmtid="{D5CDD505-2E9C-101B-9397-08002B2CF9AE}" pid="4" name="Slides">
    <vt:i4>17</vt:i4>
  </property>
</Properties>
</file>
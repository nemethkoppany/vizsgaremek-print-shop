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72" r:id="rId4"/>
    <p:sldId id="259" r:id="rId5"/>
    <p:sldId id="260" r:id="rId6"/>
    <p:sldId id="261" r:id="rId7"/>
    <p:sldId id="276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75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9E0B"/>
    <a:srgbClr val="06B6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486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1499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158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6B6D4">
              <a:alpha val="12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7132320" y="2560320"/>
            <a:ext cx="2011680" cy="201168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800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 SHOP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11480" y="1920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</a:t>
            </a:r>
            <a:r>
              <a:rPr lang="hu-HU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Printing</a:t>
            </a:r>
            <a:r>
              <a:rPr lang="en-US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</a:t>
            </a:r>
            <a:r>
              <a:rPr lang="en-US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2514600"/>
            <a:ext cx="29260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F36F8C7-DE11-F576-9278-7E0FCA1AD9E6}"/>
              </a:ext>
            </a:extLst>
          </p:cNvPr>
          <p:cNvSpPr txBox="1"/>
          <p:nvPr/>
        </p:nvSpPr>
        <p:spPr>
          <a:xfrm>
            <a:off x="411480" y="2642616"/>
            <a:ext cx="4297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200" dirty="0" err="1">
                <a:solidFill>
                  <a:schemeClr val="bg1"/>
                </a:solidFill>
                <a:latin typeface="Georgia" panose="02040502050405020303" pitchFamily="18" charset="0"/>
              </a:rPr>
              <a:t>By</a:t>
            </a:r>
            <a:r>
              <a:rPr lang="hu-HU" sz="1200" dirty="0">
                <a:solidFill>
                  <a:schemeClr val="bg1"/>
                </a:solidFill>
                <a:latin typeface="Georgia" panose="02040502050405020303" pitchFamily="18" charset="0"/>
              </a:rPr>
              <a:t>: Tóth Patrik, Németh Koppány Zoltán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530352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Print Shop?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Shop is a full-stack web application that simulates a real-world online printing service. Customers can browse products, upload their own files, configure custom orders (e.g. personalised calendars), and place orders</a:t>
            </a:r>
            <a:r>
              <a:rPr lang="hu-HU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through a responsive React frontend connected to a TypeScript</a:t>
            </a:r>
            <a:r>
              <a:rPr lang="hu-HU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panel gives staff full control over products, order statuses, user management, and business analytics.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0" y="1051560"/>
            <a:ext cx="3017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5852160" y="1051560"/>
            <a:ext cx="6400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989320" y="1097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End-to-End Order Flow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89320" y="1399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→ Cart → Payment → Confirmation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965960"/>
            <a:ext cx="3017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5852160" y="1965960"/>
            <a:ext cx="6400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5989320" y="2011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Secure Auth</a:t>
            </a:r>
            <a:r>
              <a:rPr lang="hu-HU" sz="1200" b="1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entication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2313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with role-based access (user / admin)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880360"/>
            <a:ext cx="3017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5852160" y="2880360"/>
            <a:ext cx="6400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5989320" y="2926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89320" y="3227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Multer middleware, stored server-side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3794760"/>
            <a:ext cx="3017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5852160" y="3794760"/>
            <a:ext cx="6400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5989320" y="3840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Analytics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89320" y="4142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stats &amp; login tracking for admins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&amp; Work Distribution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74320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743200" cy="438912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01752" y="104241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Backend: Express app setup, routing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0040" y="20848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JWT authentication middleware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" y="26151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 registration &amp; login endpoints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999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bcrypt password hashing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3675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MySQL database schema design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1752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Cypress E2E test suite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72968" y="1005840"/>
            <a:ext cx="274320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14" name="Shape 12"/>
          <p:cNvSpPr/>
          <p:nvPr/>
        </p:nvSpPr>
        <p:spPr>
          <a:xfrm>
            <a:off x="3172968" y="1005840"/>
            <a:ext cx="2743200" cy="43891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3246120" y="11201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64408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frontend architecture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64408" y="20848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Admin panel (all tabs)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64408" y="26151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Cart &amp; calendar preview feature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" y="4498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File upload (multer integration)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20040" y="3361073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Email notification (Nodemailer)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64408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CSS styling &amp; responsive layout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17336" y="1005840"/>
            <a:ext cx="274320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6117336" y="1005840"/>
            <a:ext cx="274320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6190488" y="104241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200" b="1" dirty="0" err="1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08776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08776" y="20848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50" dirty="0"/>
          </a:p>
        </p:txBody>
      </p:sp>
      <p:sp>
        <p:nvSpPr>
          <p:cNvPr id="31" name="Szövegdoboz 30">
            <a:extLst>
              <a:ext uri="{FF2B5EF4-FFF2-40B4-BE49-F238E27FC236}">
                <a16:creationId xmlns:a16="http://schemas.microsoft.com/office/drawing/2014/main" id="{D347E672-A3AC-4134-B58F-282B4BC94242}"/>
              </a:ext>
            </a:extLst>
          </p:cNvPr>
          <p:cNvSpPr txBox="1"/>
          <p:nvPr/>
        </p:nvSpPr>
        <p:spPr>
          <a:xfrm>
            <a:off x="3172968" y="3187238"/>
            <a:ext cx="246234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design</a:t>
            </a:r>
            <a:endParaRPr lang="en-US" sz="1050" dirty="0"/>
          </a:p>
          <a:p>
            <a:endParaRPr lang="hu-HU" sz="1050" dirty="0"/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C5F3D9A6-7938-F0CE-5D73-96A31990AABD}"/>
              </a:ext>
            </a:extLst>
          </p:cNvPr>
          <p:cNvSpPr txBox="1"/>
          <p:nvPr/>
        </p:nvSpPr>
        <p:spPr>
          <a:xfrm>
            <a:off x="3172968" y="3578230"/>
            <a:ext cx="27432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backend 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</a:t>
            </a:r>
            <a:endParaRPr lang="hu-HU" sz="1050" dirty="0"/>
          </a:p>
        </p:txBody>
      </p:sp>
      <p:sp>
        <p:nvSpPr>
          <p:cNvPr id="33" name="Szövegdoboz 32">
            <a:extLst>
              <a:ext uri="{FF2B5EF4-FFF2-40B4-BE49-F238E27FC236}">
                <a16:creationId xmlns:a16="http://schemas.microsoft.com/office/drawing/2014/main" id="{B621CFFE-8FBE-ACE5-C909-F06B765C5348}"/>
              </a:ext>
            </a:extLst>
          </p:cNvPr>
          <p:cNvSpPr txBox="1"/>
          <p:nvPr/>
        </p:nvSpPr>
        <p:spPr>
          <a:xfrm>
            <a:off x="3264408" y="3971109"/>
            <a:ext cx="25603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 </a:t>
            </a:r>
            <a:r>
              <a:rPr lang="hu-HU" sz="105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r>
              <a:rPr lang="hu-HU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design</a:t>
            </a:r>
            <a:endParaRPr lang="hu-HU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5676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0116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011680" cy="4114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20040" y="1033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" y="20116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Vite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(JSX)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3017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Fetch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3520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41448" y="1005840"/>
            <a:ext cx="20116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2441448" y="1005840"/>
            <a:ext cx="20116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2532888" y="1033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51176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Node.js + Express 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51176" y="20116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TypeScript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51176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JWT (jsonwebtoken)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551176" y="3017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bcryptjs (hashing)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51176" y="35204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Multer (uploads)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51176" y="40233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Nodemailer (email)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54296" y="1005840"/>
            <a:ext cx="20116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4654296" y="1005840"/>
            <a:ext cx="2011680" cy="4114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>
              <a:solidFill>
                <a:srgbClr val="00B0F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45736" y="1033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64024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MySQL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64024" y="20116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mysql2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64024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Relational </a:t>
            </a:r>
            <a:r>
              <a:rPr lang="en-US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</a:t>
            </a:r>
            <a:r>
              <a:rPr lang="hu-HU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64024" y="3017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45736" y="3017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Stored timestamps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67144" y="1005840"/>
            <a:ext cx="20116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867144" y="1005840"/>
            <a:ext cx="20116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958584" y="10332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</a:t>
            </a:r>
            <a:r>
              <a:rPr lang="hu-HU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r>
              <a:rPr lang="hu-HU" sz="1400" b="1" dirty="0" err="1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76872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Cypress E2E tests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6872" y="20116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Git (version control)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6872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Discord (</a:t>
            </a:r>
            <a:r>
              <a:rPr lang="hu-HU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76872" y="3017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8450" y="1828800"/>
            <a:ext cx="169164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342900" y="193852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" y="28163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Admin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00300" y="1828800"/>
            <a:ext cx="1691640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2446020" y="193852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46020" y="26334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JSX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20590" y="1828800"/>
            <a:ext cx="169164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4766310" y="193852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400" b="1" dirty="0" err="1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TypeScript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66310" y="26334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· REST API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040880" y="1828800"/>
            <a:ext cx="1691640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7086600" y="193852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86600" y="26334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mysql2/promise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11680" y="1280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 + Bearer token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34840" y="1280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verifyToken middleware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0" y="1280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Modules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767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Users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Products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4370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Orders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" y="46725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Ratings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94560" y="3767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Analytics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SystemLog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4370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UploadFile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06240" y="342900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has its own Controller + Routes file.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routes are registered in /src/routes/index.ts.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 &amp; JWT Tokenisation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07899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12420" y="1138428"/>
            <a:ext cx="15544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25120" y="11841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Login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5120" y="15316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sends email + password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/api/auth/login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468880" y="107899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016760" y="1138428"/>
            <a:ext cx="15544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2062480" y="11841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Verify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62480" y="15316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compared against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value in MySQL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206240" y="107899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54120" y="1138428"/>
            <a:ext cx="15544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3799840" y="11841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9840" y="15316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contains user_id,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91480" y="1138428"/>
            <a:ext cx="15544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5537200" y="11841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Stored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37200" y="15316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saves token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localStorage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680960" y="107899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228840" y="1138428"/>
            <a:ext cx="155448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7274560" y="11841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Requests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74560" y="15316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sent in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header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3291840"/>
            <a:ext cx="8595360" cy="160020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11480" y="3337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authMiddleware.ts – verifyToken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3657600"/>
            <a:ext cx="8321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token = req.body?.token || req.headers?.["x-access-token"] || req.headers.authorization?.split(" ")[1];</a:t>
            </a:r>
            <a:endParaRPr lang="en-US" sz="10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decoded = jwt.verify(token, config.jwtSecret) as JwtPayload;</a:t>
            </a:r>
            <a:endParaRPr lang="en-US" sz="10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req.user = decoded;  // { user_id, email, role }  →  used by checkAdmin()</a:t>
            </a:r>
            <a:endParaRPr lang="en-US" sz="10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000" b="1" dirty="0" err="1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r>
              <a:rPr lang="hu-HU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hu-HU" sz="3000" b="1" dirty="0" err="1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</a:t>
            </a:r>
            <a:endParaRPr lang="en-US" sz="30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57C5E667-EDC3-4567-B40A-9A3D3C408AB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9674"/>
            <a:ext cx="9144000" cy="448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336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" y="960120"/>
            <a:ext cx="2103120" cy="3840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137160" y="98755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8288" cy="347472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2331720" y="960120"/>
            <a:ext cx="21031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2377440" y="98755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18288" cy="347472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2103120" cy="3840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4617720" y="98755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577840" y="1371600"/>
            <a:ext cx="18288" cy="347472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812280" y="960120"/>
            <a:ext cx="21031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858000" y="98755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18120" y="1371600"/>
            <a:ext cx="18288" cy="347472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137160" y="1481328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182880" y="1527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377440" y="1481328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423160" y="1527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/api/products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17720" y="1481328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4663440" y="1527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MySQL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58000" y="1481328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6903720" y="1527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JSON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37160" y="2011680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18288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377440" y="2011680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242316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in localStorage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37160" y="2542032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182880" y="2587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file (optional)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377440" y="2542032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2423160" y="2587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/api/file/upload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2542032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4663440" y="2587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Multer saves file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58000" y="2542032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903720" y="2587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Files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37160" y="3072384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7" name="Text 35"/>
          <p:cNvSpPr/>
          <p:nvPr/>
        </p:nvSpPr>
        <p:spPr>
          <a:xfrm>
            <a:off x="182880" y="31181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Order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377440" y="3072384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Text 37"/>
          <p:cNvSpPr/>
          <p:nvPr/>
        </p:nvSpPr>
        <p:spPr>
          <a:xfrm>
            <a:off x="2423160" y="31181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/api/order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17720" y="3072384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1" name="Text 39"/>
          <p:cNvSpPr/>
          <p:nvPr/>
        </p:nvSpPr>
        <p:spPr>
          <a:xfrm>
            <a:off x="4663440" y="31181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stock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858000" y="3072384"/>
            <a:ext cx="201168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3" name="Text 41"/>
          <p:cNvSpPr/>
          <p:nvPr/>
        </p:nvSpPr>
        <p:spPr>
          <a:xfrm>
            <a:off x="6903720" y="31181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Orders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377440" y="3749040"/>
            <a:ext cx="201168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5" name="Text 43"/>
          <p:cNvSpPr/>
          <p:nvPr/>
        </p:nvSpPr>
        <p:spPr>
          <a:xfrm>
            <a:off x="242316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sent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17720" y="3749040"/>
            <a:ext cx="201168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7" name="Text 45"/>
          <p:cNvSpPr/>
          <p:nvPr/>
        </p:nvSpPr>
        <p:spPr>
          <a:xfrm>
            <a:off x="466344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sendOrderConfirmation()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Panel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Role-Based Access Control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47472" y="1554480"/>
            <a:ext cx="3840480" cy="6858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16276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" y="2304288"/>
            <a:ext cx="384048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orders, profile, cart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" y="3054096"/>
            <a:ext cx="384048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11480" y="31455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3127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above + product CRUD, order status, analytics, audit logs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authMiddleware.ts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" y="4041648"/>
            <a:ext cx="3840480" cy="64008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4114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(req.user.role !== "admin") → 403 Forbidden</a:t>
            </a:r>
            <a:endParaRPr lang="en-US" sz="1000" dirty="0">
              <a:solidFill>
                <a:srgbClr val="FFC000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1005840"/>
            <a:ext cx="4206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4663440" y="1005840"/>
            <a:ext cx="64008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800600" y="10607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 CRUD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1371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edit, delete products with pricing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1773936"/>
            <a:ext cx="4206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663440" y="1773936"/>
            <a:ext cx="64008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800600" y="18288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 Status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00600" y="21396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2542032"/>
            <a:ext cx="4206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4663440" y="2542032"/>
            <a:ext cx="64008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800600" y="25968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Ratings View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29077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user reviews with star ratings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310128"/>
            <a:ext cx="4206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4663440" y="3310128"/>
            <a:ext cx="64008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4800600" y="3364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Analytics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0600" y="3675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orders, revenue, </a:t>
            </a:r>
            <a:r>
              <a:rPr lang="hu-HU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value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4078224"/>
            <a:ext cx="4206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5" name="Shape 33"/>
          <p:cNvSpPr/>
          <p:nvPr/>
        </p:nvSpPr>
        <p:spPr>
          <a:xfrm>
            <a:off x="4663440" y="4078224"/>
            <a:ext cx="64008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800600" y="41330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Audit Logs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00600" y="4443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system event log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 Upload &amp; Custom Calendar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1051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Middleware (Multer)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481328"/>
            <a:ext cx="502920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84048" y="1572768"/>
            <a:ext cx="4800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uploadMiddleware.ts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storage = multer.diskStorage({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destination: config.uploadDir,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filename: (req, file, cb) =&gt; {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unique = Date.now() + '-' + Math.random() + '-' + file.originalname;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cb(null, unique);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const uploadMiddleware = util.promisify(upload.single('file'));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27432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Files stored on server with unique timestamped names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Single-file and multi-file (max 20) endpoints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File ID returned</a:t>
            </a:r>
            <a:r>
              <a:rPr lang="hu-HU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linked to Order_items via Tetel_fajlok table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Admin can download customer files via authenticated endpoint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0" y="1005840"/>
            <a:ext cx="33832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5486400" y="1005840"/>
            <a:ext cx="33832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5559552" y="10241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Calendar Product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77840" y="155448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Customer uploads 12 photos (one per month)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77840" y="21214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Live preview renders inside the browser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577840" y="268833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12-page layout generated from React state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77840" y="325526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Photos linked to order items via file IDs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577840" y="382219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Year selector controls the calendar grid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Ratings &amp; Analytics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Ratings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POST /api/ratings — authenticated users submit 1-5 star rating + comment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GET /api/ratings/avg — public endpoint returns average score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281635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GET /api/ratings/all — admin-only full list with all comments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11480" y="34381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Displayed on homepage with </a:t>
            </a:r>
            <a:r>
              <a:rPr lang="en-US" sz="110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icons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11480" y="405993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StoreReviewsBox component renders latest reviews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20624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Analytics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754880" y="1572768"/>
            <a:ext cx="397764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846320" y="1627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total_orders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9202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all orders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322576"/>
            <a:ext cx="397764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484632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total_revenue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6700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order prices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072384"/>
            <a:ext cx="397764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846320" y="31272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avg_order_value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amount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822192"/>
            <a:ext cx="397764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4846320" y="38770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last_login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41696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login timestamp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457200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Endpoint: GET /api/admin/analytics/orders  (admin only)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Notifications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successful order, the system automatically sends an HTML confirmation email to the customer using Nodemailer.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600200"/>
            <a:ext cx="5120640" cy="256032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11480" y="16642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sendOrderMail.ts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9659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const sendOrderConfirmation =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(email, orderId, total) =&gt; {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transporter.sendMail({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from: `"Print Shop" &lt;${MAIL_USER}&gt;`,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to: email,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subject: 'Sikeres rendelés',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html: `&lt;h2&gt;Rendelés visszaigazolás&lt;/h2&gt;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&lt;p&gt;ID: &lt;b&gt;${orderId}&lt;/b&gt;&lt;/p&gt;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&lt;p&gt;Összeg: &lt;b&gt;${total} Ft&lt;/b&gt;&lt;/p&gt;`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95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669280" y="1600200"/>
            <a:ext cx="32004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806440" y="1655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Nodemailer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06440" y="19842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transport configured via .env (MAIL_USER, MAIL_PASS)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0" y="2514600"/>
            <a:ext cx="32004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806440" y="25694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Integration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06440" y="28986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directly inside createOrder() after DB insert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0" y="3429000"/>
            <a:ext cx="32004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5806440" y="34838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HTML Content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06440" y="38130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ID, total price, thank-you message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0" y="4343400"/>
            <a:ext cx="32004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5806440" y="4398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06440" y="47274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mailer.ts creates the reusable transporter instance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Structure &amp; Components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20040" y="10424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13075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component — manages auth state, cart, routing via page state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1673352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182880" y="1673352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320040" y="170992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Navbar.jsx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97510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Navigation, login/logout, cart badge, admin button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82880" y="2340864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182880" y="2340864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320040" y="2377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Fooldal.jsx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264261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 with hero, intro, rating average display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" y="3008376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182880" y="3008376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320040" y="304495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Arlista.jsx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33101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listing — browse and add to cart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3675888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182880" y="3675888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320040" y="371246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Services.jsx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" y="397764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of available print services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82880" y="4343400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182880" y="4343400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320040" y="437997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Cart.jsx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0040" y="464515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management + calendar preview + file upload per item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1005840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Shape 27"/>
          <p:cNvSpPr/>
          <p:nvPr/>
        </p:nvSpPr>
        <p:spPr>
          <a:xfrm>
            <a:off x="4663440" y="1005840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4800600" y="10424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Login.jsx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00600" y="13075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 — stores JWT in localStorage via api.js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673352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3" name="Shape 31"/>
          <p:cNvSpPr/>
          <p:nvPr/>
        </p:nvSpPr>
        <p:spPr>
          <a:xfrm>
            <a:off x="4663440" y="1673352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800600" y="170992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Register.jsx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00600" y="197510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form, optional profile image upload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63440" y="2340864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7" name="Shape 35"/>
          <p:cNvSpPr/>
          <p:nvPr/>
        </p:nvSpPr>
        <p:spPr>
          <a:xfrm>
            <a:off x="4663440" y="2340864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4800600" y="2377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Profile.jsx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00600" y="264261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View/edit user data, change password, view own orders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008376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1" name="Shape 39"/>
          <p:cNvSpPr/>
          <p:nvPr/>
        </p:nvSpPr>
        <p:spPr>
          <a:xfrm>
            <a:off x="4663440" y="3008376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2" name="Text 40"/>
          <p:cNvSpPr/>
          <p:nvPr/>
        </p:nvSpPr>
        <p:spPr>
          <a:xfrm>
            <a:off x="4800600" y="304495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Admin.jsx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00600" y="33101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admin panel with tabs: products, orders, ratings, analytics, logs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63440" y="3675888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5" name="Shape 43"/>
          <p:cNvSpPr/>
          <p:nvPr/>
        </p:nvSpPr>
        <p:spPr>
          <a:xfrm>
            <a:off x="4663440" y="3675888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6" name="Text 44"/>
          <p:cNvSpPr/>
          <p:nvPr/>
        </p:nvSpPr>
        <p:spPr>
          <a:xfrm>
            <a:off x="4800600" y="371246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StoreReviewsBox.jsx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800600" y="397764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public reviews with star ratings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4343400"/>
            <a:ext cx="429768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9" name="Shape 47"/>
          <p:cNvSpPr/>
          <p:nvPr/>
        </p:nvSpPr>
        <p:spPr>
          <a:xfrm>
            <a:off x="4663440" y="4343400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0" name="Text 48"/>
          <p:cNvSpPr/>
          <p:nvPr/>
        </p:nvSpPr>
        <p:spPr>
          <a:xfrm>
            <a:off x="4800600" y="437997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api.js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800600" y="464515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API layer — all fetch() calls, token injection, error handling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Frontend &amp; Backend Connect via JSON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exchange happens via HTTP REST using JSON. The frontend api.js module centralises every request.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Request (Frontend → Backend)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874520"/>
            <a:ext cx="429768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84048" y="19202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/api/order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Authorization: Bearer &lt;jwt_token&gt;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"productId": 3, "quantity": 2, "fileId": 7 }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accent1">
                    <a:lumMod val="40000"/>
                    <a:lumOff val="6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Response (Backend → Frontend)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411480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864608" y="19202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201 Created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"order_id": 42,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"pending",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"total_price": 15000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3904488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Products stored with image_urls as a JSON column in MySQL, parsed with JSON.parse() in the controller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4288536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Passwords never returned in API responses — only hashed at rest (bcrypt, 10 salt rounds)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4672584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FormData used for file uploads — Content-Type set to multipart/form-data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Testing with Cypress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320040" y="11612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1064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sikeres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/api/auth/login → 200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8600" y="1847088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320040" y="19568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019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hibás jelszóval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23113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/api/auth/login → 401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642616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320040" y="27523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2697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Termékek lekérése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026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/api/products → 200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3438144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320040" y="35478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493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termék lekérése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3822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/api/products/1 → 200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4233672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320040" y="4343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létező termék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/api/products/99999 → 404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1051560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4800600" y="11612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11064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Rendelés létrehozása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12080" y="1435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/api/order (auth) → 201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09160" y="1847088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4800600" y="19568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12080" y="19019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Rendelés token nélkül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12080" y="223113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/api/order (no auth) → 403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9160" y="2642616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4800600" y="27523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212080" y="2697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létrehozás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12080" y="3026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/api/ratings (auth) → 201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09160" y="3438144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7" name="Text 35"/>
          <p:cNvSpPr/>
          <p:nvPr/>
        </p:nvSpPr>
        <p:spPr>
          <a:xfrm>
            <a:off x="4800600" y="35478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3493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átlag lekérés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12080" y="3822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/api/ratings/avg → 200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09160" y="4233672"/>
            <a:ext cx="42976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1" name="Text 39"/>
          <p:cNvSpPr/>
          <p:nvPr/>
        </p:nvSpPr>
        <p:spPr>
          <a:xfrm>
            <a:off x="4800600" y="4343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21208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lekérés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1208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/api/users/1 (auth) → 200/403/404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Management &amp; Team Tools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14800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84048" y="10424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Git — Version Control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Single shared repository (GitHub)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210312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main branch as the stable production branch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" y="263347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Feature branches for</a:t>
            </a:r>
            <a:r>
              <a:rPr lang="hu-HU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r>
              <a:rPr lang="hu-HU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r>
              <a:rPr lang="hu-HU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</a:t>
            </a:r>
            <a:r>
              <a:rPr lang="hu-HU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100" dirty="0" err="1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316382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Commits represent logical units of work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369417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.gitignore excludes node_modules, .env, uploads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422452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Backend and Frontend in separate subdirectories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20624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4663440" y="1005840"/>
            <a:ext cx="4206240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4773168" y="104241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Discord — Team Communication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73168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communication channel for the team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73168" y="21031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73168" y="2070463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Daily progress updates and task handoffs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82312" y="2600815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Code snippets shared directly in chat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73168" y="369417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73168" y="3050177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Task assignments and deadline tracking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6400800" y="2286000"/>
            <a:ext cx="3657600" cy="3657600"/>
          </a:xfrm>
          <a:prstGeom prst="ellipse">
            <a:avLst/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411480" y="1975104"/>
            <a:ext cx="256032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1663</Words>
  <Application>Microsoft Office PowerPoint</Application>
  <PresentationFormat>Diavetítés a képernyőre (16:9 oldalarány)</PresentationFormat>
  <Paragraphs>311</Paragraphs>
  <Slides>17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Georgia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Print Shop – Vizsgaremek Prezentáció</dc:title>
  <dc:subject>PptxGenJS Presentation</dc:subject>
  <dc:creator>Tóth Patrik és Németh Koppány Zoltán</dc:creator>
  <cp:lastModifiedBy>Németh Koppány Zoltán</cp:lastModifiedBy>
  <cp:revision>49</cp:revision>
  <dcterms:created xsi:type="dcterms:W3CDTF">2026-03-19T08:20:13Z</dcterms:created>
  <dcterms:modified xsi:type="dcterms:W3CDTF">2026-03-27T14:26:11Z</dcterms:modified>
</cp:coreProperties>
</file>
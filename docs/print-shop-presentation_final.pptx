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72" r:id="rId4"/>
    <p:sldId id="259" r:id="rId5"/>
    <p:sldId id="260" r:id="rId6"/>
    <p:sldId id="261" r:id="rId7"/>
    <p:sldId id="276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E0B"/>
    <a:srgbClr val="06B6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49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15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7132320" y="2560320"/>
            <a:ext cx="2011680" cy="20116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 SHOP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</a:t>
            </a:r>
            <a:r>
              <a:rPr lang="hu-HU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</a:t>
            </a: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2514600"/>
            <a:ext cx="2926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F36F8C7-DE11-F576-9278-7E0FCA1AD9E6}"/>
              </a:ext>
            </a:extLst>
          </p:cNvPr>
          <p:cNvSpPr txBox="1"/>
          <p:nvPr/>
        </p:nvSpPr>
        <p:spPr>
          <a:xfrm>
            <a:off x="411480" y="2642616"/>
            <a:ext cx="4297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err="1">
                <a:solidFill>
                  <a:schemeClr val="bg1"/>
                </a:solidFill>
                <a:latin typeface="Georgia" panose="02040502050405020303" pitchFamily="18" charset="0"/>
              </a:rPr>
              <a:t>By</a:t>
            </a:r>
            <a:r>
              <a:rPr lang="hu-HU" sz="1200" dirty="0">
                <a:solidFill>
                  <a:schemeClr val="bg1"/>
                </a:solidFill>
                <a:latin typeface="Georgia" panose="02040502050405020303" pitchFamily="18" charset="0"/>
              </a:rPr>
              <a:t>: Tóth Patrik, Németh Koppány Zoltán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Print Shop?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Shop is a full-stack web application that simulates a real-world online printing service. Customers can browse products, upload their own files, configure custom orders (e.g. personalised calendars), and place orders</a:t>
            </a:r>
            <a:r>
              <a:rPr lang="hu-HU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through a responsive React frontend connected to a TypeScript</a:t>
            </a:r>
            <a:r>
              <a:rPr lang="hu-HU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panel gives staff full control over products, order statuses, user management, and business analytics.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051560"/>
            <a:ext cx="3017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5852160" y="105156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98932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End-to-End Order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1399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→ Cart → Payment → Confirmation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965960"/>
            <a:ext cx="3017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5852160" y="196596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989320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Secure Auth</a:t>
            </a:r>
            <a:r>
              <a:rPr lang="hu-HU" sz="1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 role-based access (user / admin)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880360"/>
            <a:ext cx="3017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5852160" y="288036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5989320" y="2926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middleware, stored server-side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794760"/>
            <a:ext cx="3017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5852160" y="379476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598932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Analytics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4142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stats &amp; login tracking for admins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Work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43891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01752" y="10424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Backend: Express app setup, routing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91762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authentication middleware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" y="2278161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registration &amp; login endpoints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" y="2685725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bcrypt password hashing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" y="341643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database schema design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" y="3860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Cypress E2E test suite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1005840"/>
            <a:ext cx="27432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14" name="Shape 12"/>
          <p:cNvSpPr/>
          <p:nvPr/>
        </p:nvSpPr>
        <p:spPr>
          <a:xfrm>
            <a:off x="3172968" y="1005840"/>
            <a:ext cx="2743200" cy="4389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3246120" y="11201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frontend architecture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190332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Admin panel (all tabs)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27832" y="2314391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Cart &amp; calendar preview feature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1752" y="423025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 upload (multer integration)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" y="304625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Email notification (Nodemailer)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64408" y="407847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styling &amp; responsive layout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17336" y="1005840"/>
            <a:ext cx="27432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6117336" y="1005840"/>
            <a:ext cx="27432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6190488" y="10424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2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08776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r>
              <a:rPr lang="hu-HU" sz="105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08776" y="19293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r>
              <a:rPr lang="hu-HU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D347E672-A3AC-4134-B58F-282B4BC94242}"/>
              </a:ext>
            </a:extLst>
          </p:cNvPr>
          <p:cNvSpPr txBox="1"/>
          <p:nvPr/>
        </p:nvSpPr>
        <p:spPr>
          <a:xfrm>
            <a:off x="3172968" y="2859361"/>
            <a:ext cx="24623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hu-HU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</a:t>
            </a:r>
            <a:endParaRPr lang="en-US" sz="1050" dirty="0"/>
          </a:p>
          <a:p>
            <a:endParaRPr lang="hu-HU" sz="1050" dirty="0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C5F3D9A6-7938-F0CE-5D73-96A31990AABD}"/>
              </a:ext>
            </a:extLst>
          </p:cNvPr>
          <p:cNvSpPr txBox="1"/>
          <p:nvPr/>
        </p:nvSpPr>
        <p:spPr>
          <a:xfrm>
            <a:off x="3172968" y="3249543"/>
            <a:ext cx="2743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r>
              <a:rPr lang="hu-HU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05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</a:t>
            </a:r>
            <a:r>
              <a:rPr lang="hu-HU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05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hu-HU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backend </a:t>
            </a:r>
            <a:r>
              <a:rPr lang="hu-HU" sz="105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r>
              <a:rPr lang="hu-HU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05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hu-HU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frontend</a:t>
            </a:r>
            <a:endParaRPr lang="hu-HU" sz="1050" dirty="0"/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B621CFFE-8FBE-ACE5-C909-F06B765C5348}"/>
              </a:ext>
            </a:extLst>
          </p:cNvPr>
          <p:cNvSpPr txBox="1"/>
          <p:nvPr/>
        </p:nvSpPr>
        <p:spPr>
          <a:xfrm>
            <a:off x="3123982" y="3733114"/>
            <a:ext cx="25603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r>
              <a:rPr lang="hu-HU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05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hu-HU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frontend </a:t>
            </a:r>
            <a:r>
              <a:rPr lang="hu-HU" sz="105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r>
              <a:rPr lang="hu-HU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design</a:t>
            </a:r>
            <a:endParaRPr lang="hu-HU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676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1033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JavaScript (JSX)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Fetch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1448" y="1005840"/>
            <a:ext cx="20116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2441448" y="1005840"/>
            <a:ext cx="20116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2532888" y="1033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51176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 + Express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51176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TypeScript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51176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(jsonwebtoken)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51176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bcryptjs (hashing)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51176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Multer (uploads)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51176" y="4023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Nodemailer (email)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54296" y="1005840"/>
            <a:ext cx="20116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4654296" y="1005840"/>
            <a:ext cx="201168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>
              <a:solidFill>
                <a:srgbClr val="00B0F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45736" y="1033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4024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64024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64024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Relational </a:t>
            </a:r>
            <a:r>
              <a:rPr lang="en-US" sz="1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</a:t>
            </a:r>
            <a:r>
              <a:rPr lang="hu-HU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64024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45736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Stored timestamps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67144" y="1005840"/>
            <a:ext cx="20116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0" name="Shape 28"/>
          <p:cNvSpPr/>
          <p:nvPr/>
        </p:nvSpPr>
        <p:spPr>
          <a:xfrm>
            <a:off x="6867144" y="1005840"/>
            <a:ext cx="20116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6958584" y="1033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r>
              <a:rPr lang="hu-HU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r>
              <a:rPr lang="hu-HU" sz="14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76872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Cypress E2E tests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76872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 (version control)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76872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Discord (</a:t>
            </a:r>
            <a:r>
              <a:rPr lang="hu-HU" sz="1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76872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8450" y="1828800"/>
            <a:ext cx="16916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42900" y="19385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28163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00300" y="1828800"/>
            <a:ext cx="1691640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2446020" y="19385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46020" y="26334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JSX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20590" y="1828800"/>
            <a:ext cx="16916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766310" y="19385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400" b="1" dirty="0" err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6310" y="26334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REST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1828800"/>
            <a:ext cx="1691640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7086600" y="19385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26334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mysql2/promise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+ Bearer token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verifyToken middleware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Modules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Products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Orders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672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Ratings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Analytics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SystemLog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9456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UploadFile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429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its own Controller + Routes file.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routes are registered in /src/routes/index.ts.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JWT Tokenisation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2420" y="1138428"/>
            <a:ext cx="1554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25120" y="11841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5120" y="15316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email + password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0" y="107899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16760" y="1138428"/>
            <a:ext cx="1554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2062480" y="11841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Verify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62480" y="15316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compared against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value in MySQL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6240" y="107899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54120" y="1138428"/>
            <a:ext cx="1554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3799840" y="11841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9840" y="15316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contains user_id,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role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91480" y="1138428"/>
            <a:ext cx="1554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5537200" y="11841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7200" y="15316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saves token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localStorage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80960" y="107899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28840" y="1138428"/>
            <a:ext cx="1554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7274560" y="11841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Requests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74560" y="15316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sent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header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291840"/>
            <a:ext cx="8595360" cy="1600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41148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authMiddleware.ts – verifyToken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3657600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 = req.body?.token || req.headers?.["x-access-token"] || req.headers.authorization?.split(" ")[1];</a:t>
            </a:r>
            <a:endParaRPr lang="en-US" sz="10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decoded = jwt.verify(token, config.jwtSecret) as JwtPayload;</a:t>
            </a:r>
            <a:endParaRPr lang="en-US" sz="10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req.user = decoded;  // { user_id, email, role }  →  used by checkAdmin()</a:t>
            </a:r>
            <a:endParaRPr lang="en-US" sz="10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000" b="1" dirty="0" err="1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r>
              <a:rPr lang="hu-HU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hu-HU" sz="3000" b="1" dirty="0" err="1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</a:t>
            </a:r>
            <a:endParaRPr lang="en-US" sz="3000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57C5E667-EDC3-4567-B40A-9A3D3C408AB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9674"/>
            <a:ext cx="9144000" cy="448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36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" y="960120"/>
            <a:ext cx="210312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137160" y="9875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8288" cy="3474720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2331720" y="960120"/>
            <a:ext cx="21031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2377440" y="9875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18288" cy="347472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210312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617720" y="9875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1371600"/>
            <a:ext cx="18288" cy="3474720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6812280" y="960120"/>
            <a:ext cx="21031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6858000" y="9875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1371600"/>
            <a:ext cx="18288" cy="347472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137160" y="1481328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182880" y="1527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77440" y="1481328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2423160" y="1527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/api/products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481328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4663440" y="1527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MySQL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0" y="1481328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6903720" y="1527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JSON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37160" y="2011680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18288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77440" y="2011680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24231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in localStorage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7160" y="2542032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182880" y="2587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 (optional)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77440" y="2542032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2423160" y="2587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/api/file/upload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2542032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4663440" y="2587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saves file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0" y="2542032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6903720" y="2587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Files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37160" y="3072384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35"/>
          <p:cNvSpPr/>
          <p:nvPr/>
        </p:nvSpPr>
        <p:spPr>
          <a:xfrm>
            <a:off x="182880" y="3118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77440" y="3072384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Text 37"/>
          <p:cNvSpPr/>
          <p:nvPr/>
        </p:nvSpPr>
        <p:spPr>
          <a:xfrm>
            <a:off x="2423160" y="3118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3072384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4663440" y="3118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stock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58000" y="3072384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3" name="Text 41"/>
          <p:cNvSpPr/>
          <p:nvPr/>
        </p:nvSpPr>
        <p:spPr>
          <a:xfrm>
            <a:off x="6903720" y="3118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Orders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377440" y="3749040"/>
            <a:ext cx="20116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5" name="Text 43"/>
          <p:cNvSpPr/>
          <p:nvPr/>
        </p:nvSpPr>
        <p:spPr>
          <a:xfrm>
            <a:off x="242316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3749040"/>
            <a:ext cx="20116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7" name="Text 45"/>
          <p:cNvSpPr/>
          <p:nvPr/>
        </p:nvSpPr>
        <p:spPr>
          <a:xfrm>
            <a:off x="46634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sendOrderConfirmation()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 Control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" y="1554480"/>
            <a:ext cx="384048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627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304288"/>
            <a:ext cx="384048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orders, profile, cart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054096"/>
            <a:ext cx="384048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11480" y="31455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3127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above + product CRUD, order status, analytics, audit logs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authMiddleware.ts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4041648"/>
            <a:ext cx="384048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41148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(req.user.role !== "admin") → 403 Forbidden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800600" y="1060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 CRUD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 products with pricing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773936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4663440" y="1773936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4800600" y="1828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 Status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139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542032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4663440" y="2542032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4800600" y="25968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Ratings View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user reviews with star ratings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310128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1" name="Shape 29"/>
          <p:cNvSpPr/>
          <p:nvPr/>
        </p:nvSpPr>
        <p:spPr>
          <a:xfrm>
            <a:off x="4663440" y="3310128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4800600" y="3364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Analytics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orders, revenue, </a:t>
            </a:r>
            <a:r>
              <a:rPr lang="hu-HU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078224"/>
            <a:ext cx="42062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5" name="Shape 33"/>
          <p:cNvSpPr/>
          <p:nvPr/>
        </p:nvSpPr>
        <p:spPr>
          <a:xfrm>
            <a:off x="4663440" y="4078224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4800600" y="41330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Audit Logs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443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system event log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Upload &amp; Custom Calendar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Middleware (Multer)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502920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84048" y="1572768"/>
            <a:ext cx="4800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uploadMiddleware.ts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storage = multer.diskStorage({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destination: config.uploadDir,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filename: (req, file, cb) =&gt; {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unique = Date.now() + '-' + Math.random() + '-' + file.originalname;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cb(null, unique);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uploadMiddleware = util.promisify(upload.single('file'));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Files stored on server with unique timestamped names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Single-file and multi-file (max 20) endpoints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 ID returned</a:t>
            </a:r>
            <a:r>
              <a:rPr lang="hu-HU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linked to Order_items via Tetel_fajlok table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Admin can download customer files via authenticated endpoint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1005840"/>
            <a:ext cx="33832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5486400" y="1005840"/>
            <a:ext cx="33832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559552" y="10241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Calendar Product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5544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Customer uploads 12 photos (one per month)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77840" y="212140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preview renders inside the browser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77840" y="268833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12-page layout generated from React state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325526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Photos linked to order items via file IDs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77840" y="38221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Year selector controls the calendar grid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 &amp;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Ratings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/api/ratings — authenticated users submit 1-5 star rating + comment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/api/ratings/avg — public endpoint returns average score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281635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/api/ratings/all — admin-only full list with all comments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34381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Displayed on homepage with </a:t>
            </a:r>
            <a:r>
              <a:rPr lang="en-US" sz="110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icons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405993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StoreReviewsBox component renders latest reviews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Analytics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572768"/>
            <a:ext cx="3977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4846320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all orders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322576"/>
            <a:ext cx="3977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total_revenue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order prices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072384"/>
            <a:ext cx="3977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84632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avg_order_value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419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amount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822192"/>
            <a:ext cx="3977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4846320" y="3877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last_login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4169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login timestamp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45720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GET /api/admin/analytics/orders  (admin only)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Notifications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successful order, the system automatically sends an HTML confirmation email to the customer using Nodemailer.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512064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sendOrderMail.ts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sendOrderConfirmation =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(email, orderId, total) =&gt; {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transporter.sendMail({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from: `"Print Shop" &lt;${MAIL_USER}&gt;`,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to: email,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subject: 'Sikeres rendelés',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html: `&lt;h2&gt;Rendelés visszaigazolás&lt;/h2&gt;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&lt;p&gt;ID: &lt;b&gt;${orderId}&lt;/b&gt;&lt;/p&gt;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&lt;p&gt;Összeg: &lt;b&gt;${total} Ft&lt;/b&gt;&lt;/p&gt;`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0" y="1600200"/>
            <a:ext cx="32004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806440" y="16550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Nodemailer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06440" y="1984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transport configured via .env (MAIL_USER, MAIL_PASS)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2514600"/>
            <a:ext cx="32004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5806440" y="25694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2898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directly inside createOrder() after DB insert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3429000"/>
            <a:ext cx="32004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5806440" y="34838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HTML Content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3813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total price, thank-you message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4343400"/>
            <a:ext cx="32004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5806440" y="4398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06440" y="4727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mailer.ts creates the reusable transporter instance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Structure &amp;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104241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075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component — manages auth state, cart, routing via page state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673352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182880" y="1673352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320040" y="17099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Navbar.jsx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9751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login/logout, cart badge, admin button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340864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182880" y="2340864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320040" y="23774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Fooldal.jsx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6426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with hero, intro, rating average display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3008376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182880" y="3008376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320040" y="30449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Arlista.jsx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3101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 — browse and add to cart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675888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182880" y="3675888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320040" y="37124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Services.jsx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9776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available print services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4343400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182880" y="4343400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320040" y="43799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Cart.jsx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6451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management + calendar preview + file upload per item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4663440" y="1005840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4800600" y="104241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Login.jsx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13075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 — stores JWT in localStorage via api.js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673352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Shape 31"/>
          <p:cNvSpPr/>
          <p:nvPr/>
        </p:nvSpPr>
        <p:spPr>
          <a:xfrm>
            <a:off x="4663440" y="1673352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4800600" y="17099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Register.jsx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19751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form, optional profile image upload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340864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Shape 35"/>
          <p:cNvSpPr/>
          <p:nvPr/>
        </p:nvSpPr>
        <p:spPr>
          <a:xfrm>
            <a:off x="4663440" y="2340864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4800600" y="23774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Profile.jsx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26426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View/edit user data, change password, view own orders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008376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1" name="Shape 39"/>
          <p:cNvSpPr/>
          <p:nvPr/>
        </p:nvSpPr>
        <p:spPr>
          <a:xfrm>
            <a:off x="4663440" y="3008376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2" name="Text 40"/>
          <p:cNvSpPr/>
          <p:nvPr/>
        </p:nvSpPr>
        <p:spPr>
          <a:xfrm>
            <a:off x="4800600" y="30449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Admin.jsx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33101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panel with tabs: products, orders, ratings, analytics, logs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675888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5" name="Shape 43"/>
          <p:cNvSpPr/>
          <p:nvPr/>
        </p:nvSpPr>
        <p:spPr>
          <a:xfrm>
            <a:off x="4663440" y="3675888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6" name="Text 44"/>
          <p:cNvSpPr/>
          <p:nvPr/>
        </p:nvSpPr>
        <p:spPr>
          <a:xfrm>
            <a:off x="4800600" y="37124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StoreReviewsBox.jsx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39776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public reviews with star ratings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4343400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9" name="Shape 47"/>
          <p:cNvSpPr/>
          <p:nvPr/>
        </p:nvSpPr>
        <p:spPr>
          <a:xfrm>
            <a:off x="4663440" y="4343400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0" name="Text 48"/>
          <p:cNvSpPr/>
          <p:nvPr/>
        </p:nvSpPr>
        <p:spPr>
          <a:xfrm>
            <a:off x="4800600" y="43799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0600" y="46451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API layer — all fetch() calls, token injection, error handling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Frontend &amp; Backend Connect via JSON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exchange happens via HTTP REST using JSON. The frontend api.js module centralises every request.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Request (Frontend → Backend)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429768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84048" y="19202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/api/order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&lt;jwt_token&gt;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"productId": 3, "quantity": 2, "fileId": 7 }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Response (Backend → Frontend)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411480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864608" y="19202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201 Created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"order_id": 42,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"pending",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"total_price": 15000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9044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Products stored with image_urls as a JSON column in MySQL, parsed with JSON.parse() in the controller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428853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Passwords never returned in API responses — only hashed at rest (bcrypt, 10 salt rounds)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67258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FormData used for file uploads — Content-Type set to multipart/form-data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Testing with Cypress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97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20040" y="11612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1064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sikeres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 → 200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847088"/>
            <a:ext cx="4297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320040" y="19568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hibás jelszóval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231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 → 401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42616"/>
            <a:ext cx="4297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320040" y="27523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Termékek lekérése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026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/api/products → 200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438144"/>
            <a:ext cx="4297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320040" y="35478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termék lekérése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822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/api/products/1 → 200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4233672"/>
            <a:ext cx="4297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320040" y="4343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létező termék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617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/api/products/99999 → 404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4297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4800600" y="11612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11064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 létrehozása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1435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/api/order (auth) → 201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847088"/>
            <a:ext cx="4297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4800600" y="19568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 token nélkül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231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/api/order (no auth) → 403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642616"/>
            <a:ext cx="4297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4800600" y="27523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2697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létrehozás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3026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/api/ratings (auth) → 201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438144"/>
            <a:ext cx="4297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7" name="Text 35"/>
          <p:cNvSpPr/>
          <p:nvPr/>
        </p:nvSpPr>
        <p:spPr>
          <a:xfrm>
            <a:off x="4800600" y="35478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átlag lekérés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3822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/api/ratings/avg → 200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4233672"/>
            <a:ext cx="4297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41" name="Text 39"/>
          <p:cNvSpPr/>
          <p:nvPr/>
        </p:nvSpPr>
        <p:spPr>
          <a:xfrm>
            <a:off x="4800600" y="4343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12080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lekérés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4617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/api/users/1 (auth) → 200/403/404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Management &amp; Team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84048" y="1042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Git — Version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Single shared repository (GitHub)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103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main branch as the stable production branch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6334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branches for</a:t>
            </a:r>
            <a:r>
              <a:rPr lang="hu-HU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</a:t>
            </a:r>
            <a:r>
              <a:rPr lang="hu-HU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hu-HU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</a:t>
            </a:r>
            <a:r>
              <a:rPr lang="hu-HU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31638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Commits represent logical units of 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6941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.gitignore excludes node_modules, .env, uploads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42245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Backend and Frontend in separate subdirectories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206240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4773168" y="1042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Discord — Team Communication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15727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Primary communication channel for the team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2103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2070463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Daily progress updates and task handoffs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2312" y="2600815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 snippets shared directly in chat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369417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050177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Task assignments and deadline tracking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411480" y="1975104"/>
            <a:ext cx="25603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1663</Words>
  <Application>Microsoft Office PowerPoint</Application>
  <PresentationFormat>Diavetítés a képernyőre (16:9 oldalarány)</PresentationFormat>
  <Paragraphs>311</Paragraphs>
  <Slides>17</Slides>
  <Notes>17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Print Shop – Vizsgaremek Prezentáció</dc:title>
  <dc:subject>PptxGenJS Presentation</dc:subject>
  <dc:creator>Tóth Patrik és Németh Koppány Zoltán</dc:creator>
  <cp:lastModifiedBy>Németh Koppány Zoltán</cp:lastModifiedBy>
  <cp:revision>52</cp:revision>
  <dcterms:created xsi:type="dcterms:W3CDTF">2026-03-19T08:20:13Z</dcterms:created>
  <dcterms:modified xsi:type="dcterms:W3CDTF">2026-03-27T14:33:19Z</dcterms:modified>
</cp:coreProperties>
</file>